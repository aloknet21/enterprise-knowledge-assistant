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217" autoAdjust="0"/>
  </p:normalViewPr>
  <p:slideViewPr>
    <p:cSldViewPr snapToGrid="0" snapToObjects="1">
      <p:cViewPr varScale="1">
        <p:scale>
          <a:sx n="39" d="100"/>
          <a:sy n="39" d="100"/>
        </p:scale>
        <p:origin x="1684" y="2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200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050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01: Build a Local GenAI Knowledge Assistant</a:t>
            </a:r>
          </a:p>
          <a:p>
            <a:r>
              <a:t>Target recording time: 00:00 - 00:45</a:t>
            </a:r>
          </a:p>
          <a:p>
            <a:r>
              <a:t>[Timing and this heading are not spoken. Read the script below aloud.]</a:t>
            </a:r>
          </a:p>
          <a:p>
            <a:endParaRPr/>
          </a:p>
          <a:p>
            <a:r>
              <a:t>WHAT I SAY</a:t>
            </a:r>
          </a:p>
          <a:p>
            <a:endParaRPr/>
          </a:p>
          <a:p>
            <a:r>
              <a:t>Welcome.</a:t>
            </a:r>
          </a:p>
          <a:p>
            <a:endParaRPr/>
          </a:p>
          <a:p>
            <a:r>
              <a:t>I am Alok Singh, and this is a personal skills-development project that I built to learn how a practical generative AI application works end to end.</a:t>
            </a:r>
          </a:p>
          <a:p>
            <a:endParaRPr/>
          </a:p>
          <a:p>
            <a:r>
              <a:t>In the next thirty minutes, we will go from a PDF to a grounded answer, then open the code that makes each step happen.</a:t>
            </a:r>
          </a:p>
          <a:p>
            <a:endParaRPr/>
          </a:p>
          <a:p>
            <a:r>
              <a:t>This is an independent educational demonstration, not an official company presentation or endorsement, and not a production-certified solution.</a:t>
            </a:r>
          </a:p>
          <a:p>
            <a:endParaRPr/>
          </a:p>
          <a:p>
            <a:r>
              <a:t>All examples should use public or synthetic documents.</a:t>
            </a:r>
          </a:p>
          <a:p>
            <a:endParaRPr/>
          </a:p>
          <a:p>
            <a:r>
              <a:t>Please do not upload employer, customer, or personal confidential information just to follow this tutorial.</a:t>
            </a:r>
          </a:p>
          <a:p>
            <a:endParaRPr/>
          </a:p>
          <a:p>
            <a:r>
              <a:t>My aim is to help a fresher start with a small, understandable use case rather than a large framework stack.</a:t>
            </a:r>
          </a:p>
          <a:p>
            <a:endParaRPr/>
          </a:p>
          <a:p>
            <a:r>
              <a:t>You do not need to train a foundation model to build your first useful GenAI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02: What you will be able to explain</a:t>
            </a:r>
          </a:p>
          <a:p>
            <a:r>
              <a:rPr dirty="0"/>
              <a:t>Target recording time: 00:45 - 01:30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Here is the outcome I want you to take away.</a:t>
            </a:r>
          </a:p>
          <a:p>
            <a:endParaRPr dirty="0"/>
          </a:p>
          <a:p>
            <a:r>
              <a:rPr dirty="0"/>
              <a:t>First, explain retrieval-augmented generation in simple language.</a:t>
            </a:r>
          </a:p>
          <a:p>
            <a:endParaRPr dirty="0"/>
          </a:p>
          <a:p>
            <a:r>
              <a:rPr dirty="0"/>
              <a:t>Second, follow the data as it changes shape: a PDF becomes page text, page text becomes chunks, chunks become vectors, and retrieved chunks become model context.</a:t>
            </a:r>
          </a:p>
          <a:p>
            <a:endParaRPr dirty="0"/>
          </a:p>
          <a:p>
            <a:r>
              <a:rPr dirty="0"/>
              <a:t>Third, understand why there are two model roles.</a:t>
            </a:r>
          </a:p>
          <a:p>
            <a:endParaRPr dirty="0"/>
          </a:p>
          <a:p>
            <a:r>
              <a:rPr dirty="0"/>
              <a:t>The embedding model finds semantically related content; the answer model writes a response.</a:t>
            </a:r>
          </a:p>
          <a:p>
            <a:endParaRPr dirty="0"/>
          </a:p>
          <a:p>
            <a:r>
              <a:rPr dirty="0"/>
              <a:t>Finally, run the project, inspect sources, and recognize the limits of a local prototype.</a:t>
            </a:r>
          </a:p>
          <a:p>
            <a:endParaRPr dirty="0"/>
          </a:p>
          <a:p>
            <a:r>
              <a:rPr dirty="0"/>
              <a:t>The video has four chapters: foundations and architecture, a code walkthrough, a live demonstration, and engineering lessons with a beginner roadmap.</a:t>
            </a:r>
          </a:p>
          <a:p>
            <a:endParaRPr dirty="0"/>
          </a:p>
          <a:p>
            <a:r>
              <a:rPr dirty="0"/>
              <a:t>Pause the recording at code slides if you want to reproduce each step.</a:t>
            </a:r>
          </a:p>
          <a:p>
            <a:endParaRPr dirty="0"/>
          </a:p>
          <a:p>
            <a:r>
              <a:rPr dirty="0"/>
              <a:t>The appendix provides the complete file map and official learning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03: Start with a narrow, useful problem</a:t>
            </a:r>
          </a:p>
          <a:p>
            <a:r>
              <a:rPr dirty="0"/>
              <a:t>Target recording time: 01:30 - 02:30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Imagine a learner opening a twenty-page handbook and looking for one specific requirement.</a:t>
            </a:r>
          </a:p>
          <a:p>
            <a:endParaRPr dirty="0"/>
          </a:p>
          <a:p>
            <a:r>
              <a:rPr dirty="0"/>
              <a:t>Reading every page is slow.</a:t>
            </a:r>
          </a:p>
          <a:p>
            <a:endParaRPr dirty="0"/>
          </a:p>
          <a:p>
            <a:r>
              <a:rPr dirty="0"/>
              <a:t>A generic chatbot may know the general subject, but it does not automatically know the exact document or its latest wording.</a:t>
            </a:r>
          </a:p>
          <a:p>
            <a:endParaRPr dirty="0"/>
          </a:p>
          <a:p>
            <a:r>
              <a:rPr dirty="0"/>
              <a:t>Our first use case is deliberately narrow: upload one PDF, ask questions about it, and inspect the passages that supported the answer.</a:t>
            </a:r>
          </a:p>
          <a:p>
            <a:endParaRPr dirty="0"/>
          </a:p>
          <a:p>
            <a:r>
              <a:rPr dirty="0"/>
              <a:t>This is suitable for public manuals, training material, and synthetic policies.</a:t>
            </a:r>
          </a:p>
          <a:p>
            <a:endParaRPr dirty="0"/>
          </a:p>
          <a:p>
            <a:r>
              <a:rPr dirty="0"/>
              <a:t>The success criterion is not that the answer sounds confident; it is that the answer is supported by the provided text.</a:t>
            </a:r>
          </a:p>
          <a:p>
            <a:endParaRPr dirty="0"/>
          </a:p>
          <a:p>
            <a:r>
              <a:rPr dirty="0"/>
              <a:t>Before coding, define your user, document type, five realistic questions, and the expected supporting pages.</a:t>
            </a:r>
          </a:p>
          <a:p>
            <a:endParaRPr dirty="0"/>
          </a:p>
          <a:p>
            <a:r>
              <a:rPr dirty="0"/>
              <a:t>That small evaluation set is more valuable than adding many features immediately.</a:t>
            </a:r>
          </a:p>
          <a:p>
            <a:endParaRPr dirty="0"/>
          </a:p>
          <a:p>
            <a:r>
              <a:rPr dirty="0"/>
              <a:t>This prototype does not implement organization-wide permissions, document connectors, or multi-user isolation.</a:t>
            </a:r>
          </a:p>
          <a:p>
            <a:endParaRPr dirty="0"/>
          </a:p>
          <a:p>
            <a:r>
              <a:rPr dirty="0"/>
              <a:t>I want to be clear about that boundary: this is a learning prototype, not an enterprise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04: RAG: retrieve first, generate second</a:t>
            </a:r>
          </a:p>
          <a:p>
            <a:r>
              <a:rPr dirty="0"/>
              <a:t>Target recording time: 02:30 - 03:30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RAG means retrieval-augmented generation.</a:t>
            </a:r>
          </a:p>
          <a:p>
            <a:endParaRPr dirty="0"/>
          </a:p>
          <a:p>
            <a:r>
              <a:rPr dirty="0"/>
              <a:t>Retrieval locates potentially relevant text.</a:t>
            </a:r>
          </a:p>
          <a:p>
            <a:endParaRPr dirty="0"/>
          </a:p>
          <a:p>
            <a:r>
              <a:rPr dirty="0"/>
              <a:t>Augmentation inserts that text into the request.</a:t>
            </a:r>
          </a:p>
          <a:p>
            <a:endParaRPr dirty="0"/>
          </a:p>
          <a:p>
            <a:r>
              <a:rPr dirty="0"/>
              <a:t>Generation asks a language model to answer using the supplied context.</a:t>
            </a:r>
          </a:p>
          <a:p>
            <a:endParaRPr dirty="0"/>
          </a:p>
          <a:p>
            <a:r>
              <a:rPr dirty="0"/>
              <a:t>An analogy is an open-book exam: the search stage selects useful pages, and the answer model writes an explanation from those pages.</a:t>
            </a:r>
          </a:p>
          <a:p>
            <a:endParaRPr dirty="0"/>
          </a:p>
          <a:p>
            <a:r>
              <a:rPr dirty="0"/>
              <a:t>The model weights are not trained or fine-tuned on the uploaded PDF.</a:t>
            </a:r>
          </a:p>
          <a:p>
            <a:endParaRPr dirty="0"/>
          </a:p>
          <a:p>
            <a:r>
              <a:rPr dirty="0"/>
              <a:t>We are changing the context at inference time.</a:t>
            </a:r>
          </a:p>
          <a:p>
            <a:endParaRPr dirty="0"/>
          </a:p>
          <a:p>
            <a:r>
              <a:rPr dirty="0"/>
              <a:t>RAG and fine-tuning solve different problems.</a:t>
            </a:r>
          </a:p>
          <a:p>
            <a:endParaRPr dirty="0"/>
          </a:p>
          <a:p>
            <a:r>
              <a:rPr dirty="0"/>
              <a:t>Retrieval is useful for changing reference information; fine-tuning can adjust model behavior but does not replace reliable document lookup.</a:t>
            </a:r>
          </a:p>
          <a:p>
            <a:endParaRPr dirty="0"/>
          </a:p>
          <a:p>
            <a:r>
              <a:rPr dirty="0"/>
              <a:t>Also, RAG does not guarantee factual correctness.</a:t>
            </a:r>
          </a:p>
          <a:p>
            <a:endParaRPr dirty="0"/>
          </a:p>
          <a:p>
            <a:r>
              <a:rPr dirty="0"/>
              <a:t>Retrieval may select the wrong passage, omit an important exception, or expose misleading document instructions.</a:t>
            </a:r>
          </a:p>
          <a:p>
            <a:endParaRPr dirty="0"/>
          </a:p>
          <a:p>
            <a:r>
              <a:rPr dirty="0"/>
              <a:t>We must inspect evidence and evaluate both retrieval quality and answer faithfulness.</a:t>
            </a:r>
          </a:p>
          <a:p>
            <a:endParaRPr dirty="0"/>
          </a:p>
          <a:p>
            <a:r>
              <a:rPr dirty="0"/>
              <a:t>Throughout this demonstration, I will check retrieval quality and answer quality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05: The architecture has two separate paths</a:t>
            </a:r>
          </a:p>
          <a:p>
            <a:r>
              <a:rPr dirty="0"/>
              <a:t>Target recording time: 03:30 - 05:00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The top row shows the indexing path, which runs only when the user explicitly clicks Index PDF.</a:t>
            </a:r>
          </a:p>
          <a:p>
            <a:endParaRPr dirty="0"/>
          </a:p>
          <a:p>
            <a:r>
              <a:rPr dirty="0"/>
              <a:t>The loader extracts text one page at a time.</a:t>
            </a:r>
          </a:p>
          <a:p>
            <a:endParaRPr dirty="0"/>
          </a:p>
          <a:p>
            <a:r>
              <a:rPr dirty="0"/>
              <a:t>The </a:t>
            </a:r>
            <a:r>
              <a:rPr dirty="0" err="1"/>
              <a:t>chunker</a:t>
            </a:r>
            <a:r>
              <a:rPr dirty="0"/>
              <a:t> creates manageable text spans.</a:t>
            </a:r>
          </a:p>
          <a:p>
            <a:endParaRPr dirty="0"/>
          </a:p>
          <a:p>
            <a:r>
              <a:rPr dirty="0" err="1"/>
              <a:t>Ollama</a:t>
            </a:r>
            <a:r>
              <a:rPr dirty="0"/>
              <a:t> turns a small batch of chunks into numerical embeddings.</a:t>
            </a:r>
          </a:p>
          <a:p>
            <a:endParaRPr dirty="0"/>
          </a:p>
          <a:p>
            <a:r>
              <a:rPr dirty="0"/>
              <a:t>We stage Arrow batches in a temporary file and then publish them to </a:t>
            </a:r>
            <a:r>
              <a:rPr dirty="0" err="1"/>
              <a:t>LanceDB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The bottom row shows the question path.</a:t>
            </a:r>
          </a:p>
          <a:p>
            <a:endParaRPr dirty="0"/>
          </a:p>
          <a:p>
            <a:r>
              <a:rPr dirty="0"/>
              <a:t>The question goes through the same embedding model, and </a:t>
            </a:r>
            <a:r>
              <a:rPr dirty="0" err="1"/>
              <a:t>LanceDB</a:t>
            </a:r>
            <a:r>
              <a:rPr dirty="0"/>
              <a:t> returns the nearest chunk vectors.</a:t>
            </a:r>
          </a:p>
          <a:p>
            <a:endParaRPr dirty="0"/>
          </a:p>
          <a:p>
            <a:r>
              <a:rPr dirty="0"/>
              <a:t>Only the associated text is assembled into the answer prompt.</a:t>
            </a:r>
          </a:p>
          <a:p>
            <a:endParaRPr dirty="0"/>
          </a:p>
          <a:p>
            <a:r>
              <a:rPr dirty="0"/>
              <a:t>Qwen3 generates an answer, while </a:t>
            </a:r>
            <a:r>
              <a:rPr dirty="0" err="1"/>
              <a:t>Streamlit</a:t>
            </a:r>
            <a:r>
              <a:rPr dirty="0"/>
              <a:t> separately displays the retrieved source metadata.</a:t>
            </a:r>
          </a:p>
          <a:p>
            <a:endParaRPr dirty="0"/>
          </a:p>
          <a:p>
            <a:r>
              <a:rPr dirty="0"/>
              <a:t>Both model calls go to </a:t>
            </a:r>
            <a:r>
              <a:rPr dirty="0" err="1"/>
              <a:t>Ollama</a:t>
            </a:r>
            <a:r>
              <a:rPr dirty="0"/>
              <a:t> in the local configuration.</a:t>
            </a:r>
          </a:p>
          <a:p>
            <a:endParaRPr dirty="0"/>
          </a:p>
          <a:p>
            <a:r>
              <a:rPr dirty="0" err="1"/>
              <a:t>LanceDB</a:t>
            </a:r>
            <a:r>
              <a:rPr dirty="0"/>
              <a:t> persists text, metadata, and vectors on disk.</a:t>
            </a:r>
          </a:p>
          <a:p>
            <a:endParaRPr dirty="0"/>
          </a:p>
          <a:p>
            <a:r>
              <a:rPr dirty="0"/>
              <a:t>The app does not save the original upload as a raw PDF.</a:t>
            </a:r>
          </a:p>
          <a:p>
            <a:endParaRPr dirty="0"/>
          </a:p>
          <a:p>
            <a:r>
              <a:rPr dirty="0"/>
              <a:t>The document content has not disappeared: its extracted text remains in the local index.</a:t>
            </a:r>
          </a:p>
          <a:p>
            <a:endParaRPr dirty="0"/>
          </a:p>
          <a:p>
            <a:r>
              <a:rPr dirty="0"/>
              <a:t>Also, models may need an initial network download during setup.</a:t>
            </a:r>
          </a:p>
          <a:p>
            <a:endParaRPr dirty="0"/>
          </a:p>
          <a:p>
            <a:r>
              <a:rPr dirty="0"/>
              <a:t>Local processing is an architectural choice, not a complete privacy or security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06: A small codebase with clear responsibilities</a:t>
            </a:r>
          </a:p>
          <a:p>
            <a:r>
              <a:rPr dirty="0"/>
              <a:t>Target recording time: 05:00 - 06:15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Let me connect this diagram to the repository structure.</a:t>
            </a:r>
          </a:p>
          <a:p>
            <a:endParaRPr dirty="0"/>
          </a:p>
          <a:p>
            <a:r>
              <a:rPr dirty="0"/>
              <a:t>The main UI and user-event orchestration live in app.py.</a:t>
            </a:r>
          </a:p>
          <a:p>
            <a:endParaRPr dirty="0"/>
          </a:p>
          <a:p>
            <a:r>
              <a:rPr dirty="0"/>
              <a:t>Ingestion is split into three responsibilities: PDF extraction, chunk creation, and the pipeline that batches their results.</a:t>
            </a:r>
          </a:p>
          <a:p>
            <a:endParaRPr dirty="0"/>
          </a:p>
          <a:p>
            <a:r>
              <a:rPr dirty="0"/>
              <a:t>The embeddings package handles the </a:t>
            </a:r>
            <a:r>
              <a:rPr dirty="0" err="1"/>
              <a:t>Ollama</a:t>
            </a:r>
            <a:r>
              <a:rPr dirty="0"/>
              <a:t> embedding API and shared runtime limits.</a:t>
            </a:r>
          </a:p>
          <a:p>
            <a:endParaRPr dirty="0"/>
          </a:p>
          <a:p>
            <a:r>
              <a:rPr dirty="0"/>
              <a:t>The </a:t>
            </a:r>
            <a:r>
              <a:rPr dirty="0" err="1"/>
              <a:t>vectorstore</a:t>
            </a:r>
            <a:r>
              <a:rPr dirty="0"/>
              <a:t> module is the storage boundary.</a:t>
            </a:r>
          </a:p>
          <a:p>
            <a:endParaRPr dirty="0"/>
          </a:p>
          <a:p>
            <a:r>
              <a:rPr dirty="0"/>
              <a:t>It defines the Arrow schema, stages batches safely, publishes the table, and searches it.</a:t>
            </a:r>
          </a:p>
          <a:p>
            <a:endParaRPr dirty="0"/>
          </a:p>
          <a:p>
            <a:r>
              <a:rPr dirty="0"/>
              <a:t>The </a:t>
            </a:r>
            <a:r>
              <a:rPr dirty="0" err="1"/>
              <a:t>llm</a:t>
            </a:r>
            <a:r>
              <a:rPr dirty="0"/>
              <a:t> module builds the grounded answer prompt and calls the chat model.</a:t>
            </a:r>
          </a:p>
          <a:p>
            <a:endParaRPr dirty="0"/>
          </a:p>
          <a:p>
            <a:r>
              <a:rPr dirty="0"/>
              <a:t>The tests cover ingestion and the </a:t>
            </a:r>
            <a:r>
              <a:rPr dirty="0" err="1"/>
              <a:t>Streamlit</a:t>
            </a:r>
            <a:r>
              <a:rPr dirty="0"/>
              <a:t> interaction path.</a:t>
            </a:r>
          </a:p>
          <a:p>
            <a:endParaRPr dirty="0"/>
          </a:p>
          <a:p>
            <a:r>
              <a:rPr dirty="0"/>
              <a:t>Configuration controls upload size, watching, and theme.</a:t>
            </a:r>
          </a:p>
          <a:p>
            <a:endParaRPr dirty="0"/>
          </a:p>
          <a:p>
            <a:r>
              <a:rPr dirty="0"/>
              <a:t>Requirements lists the actual runtime dependencies.</a:t>
            </a:r>
          </a:p>
          <a:p>
            <a:endParaRPr dirty="0"/>
          </a:p>
          <a:p>
            <a:r>
              <a:rPr dirty="0"/>
              <a:t>The compatibility helper in utils.py simply re-exports </a:t>
            </a:r>
            <a:r>
              <a:rPr dirty="0" err="1"/>
              <a:t>split_text</a:t>
            </a:r>
            <a:r>
              <a:rPr dirty="0"/>
              <a:t>; it is not a separate second chunking algorithm.</a:t>
            </a:r>
          </a:p>
          <a:p>
            <a:endParaRPr dirty="0"/>
          </a:p>
          <a:p>
            <a:r>
              <a:rPr dirty="0"/>
              <a:t>Notice what is not required: the current application does not need </a:t>
            </a:r>
            <a:r>
              <a:rPr dirty="0" err="1"/>
              <a:t>LangChain</a:t>
            </a:r>
            <a:r>
              <a:rPr dirty="0"/>
              <a:t>, </a:t>
            </a:r>
            <a:r>
              <a:rPr dirty="0" err="1"/>
              <a:t>CrewAI</a:t>
            </a:r>
            <a:r>
              <a:rPr dirty="0"/>
              <a:t>, Sentence Transformers, or a training pipeline.</a:t>
            </a:r>
          </a:p>
          <a:p>
            <a:endParaRPr dirty="0"/>
          </a:p>
          <a:p>
            <a:r>
              <a:rPr dirty="0"/>
              <a:t>Keeping each responsibility explicit makes this a useful first project and makes bugs easier to isolate.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07: Run the project before changing it</a:t>
            </a:r>
          </a:p>
          <a:p>
            <a:r>
              <a:rPr dirty="0"/>
              <a:t>Target recording time: 06:15 - 07:30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Start with Python 3.12 and a virtual environment.</a:t>
            </a:r>
          </a:p>
          <a:p>
            <a:endParaRPr dirty="0"/>
          </a:p>
          <a:p>
            <a:r>
              <a:rPr dirty="0"/>
              <a:t>Install the project requirements, install </a:t>
            </a:r>
            <a:r>
              <a:rPr dirty="0" err="1"/>
              <a:t>Ollama</a:t>
            </a:r>
            <a:r>
              <a:rPr dirty="0"/>
              <a:t> separately, and download the embedding model plus the selected answer model before recording.</a:t>
            </a:r>
          </a:p>
          <a:p>
            <a:endParaRPr dirty="0"/>
          </a:p>
          <a:p>
            <a:r>
              <a:rPr dirty="0"/>
              <a:t>The code does not download models automatically.</a:t>
            </a:r>
          </a:p>
          <a:p>
            <a:endParaRPr dirty="0"/>
          </a:p>
          <a:p>
            <a:r>
              <a:rPr dirty="0"/>
              <a:t>On a lower-memory laptop, pull qwen3:0.6b and choose that exact option in Advanced settings.</a:t>
            </a:r>
          </a:p>
          <a:p>
            <a:endParaRPr dirty="0"/>
          </a:p>
          <a:p>
            <a:r>
              <a:rPr dirty="0"/>
              <a:t>The app default is qwen3, which may resolve to a substantially larger model.</a:t>
            </a:r>
          </a:p>
          <a:p>
            <a:endParaRPr dirty="0"/>
          </a:p>
          <a:p>
            <a:r>
              <a:rPr dirty="0"/>
              <a:t>Smaller models can be less accurate, so use the same evaluation questions when comparing them.</a:t>
            </a:r>
          </a:p>
          <a:p>
            <a:endParaRPr dirty="0"/>
          </a:p>
          <a:p>
            <a:r>
              <a:rPr dirty="0" err="1"/>
              <a:t>Ollama</a:t>
            </a:r>
            <a:r>
              <a:rPr dirty="0"/>
              <a:t> is a separate local server.</a:t>
            </a:r>
          </a:p>
          <a:p>
            <a:endParaRPr dirty="0"/>
          </a:p>
          <a:p>
            <a:r>
              <a:rPr dirty="0"/>
              <a:t>If its desktop application is already running, do not start a second conflicting server.</a:t>
            </a:r>
          </a:p>
          <a:p>
            <a:endParaRPr dirty="0"/>
          </a:p>
          <a:p>
            <a:r>
              <a:rPr dirty="0"/>
              <a:t>Use </a:t>
            </a:r>
            <a:r>
              <a:rPr dirty="0" err="1"/>
              <a:t>ollama</a:t>
            </a:r>
            <a:r>
              <a:rPr dirty="0"/>
              <a:t> list to inspect installed models and </a:t>
            </a:r>
            <a:r>
              <a:rPr dirty="0" err="1"/>
              <a:t>ollama</a:t>
            </a:r>
            <a:r>
              <a:rPr dirty="0"/>
              <a:t> </a:t>
            </a:r>
            <a:r>
              <a:rPr dirty="0" err="1"/>
              <a:t>ps</a:t>
            </a:r>
            <a:r>
              <a:rPr dirty="0"/>
              <a:t> to inspect loaded models.</a:t>
            </a:r>
          </a:p>
          <a:p>
            <a:endParaRPr dirty="0"/>
          </a:p>
          <a:p>
            <a:r>
              <a:rPr dirty="0"/>
              <a:t>Then start </a:t>
            </a:r>
            <a:r>
              <a:rPr dirty="0" err="1"/>
              <a:t>Streamlit</a:t>
            </a:r>
            <a:r>
              <a:rPr dirty="0"/>
              <a:t> from the repository directory.</a:t>
            </a:r>
          </a:p>
          <a:p>
            <a:endParaRPr dirty="0"/>
          </a:p>
          <a:p>
            <a:r>
              <a:rPr dirty="0"/>
              <a:t>For a new learner, establish this known-good baseline first.</a:t>
            </a:r>
          </a:p>
          <a:p>
            <a:endParaRPr dirty="0"/>
          </a:p>
          <a:p>
            <a:r>
              <a:rPr dirty="0"/>
              <a:t>If setup fails, identify whether the error comes from Python dependencies, the </a:t>
            </a:r>
            <a:r>
              <a:rPr dirty="0" err="1"/>
              <a:t>Ollama</a:t>
            </a:r>
            <a:r>
              <a:rPr dirty="0"/>
              <a:t> service, missing model weights, or the browser application before modifying business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08: Frontend: a workspace, not an expensive loop</a:t>
            </a:r>
          </a:p>
          <a:p>
            <a:r>
              <a:rPr dirty="0"/>
              <a:t>Target recording time: 07:30 - 08:45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 err="1"/>
              <a:t>Streamlit</a:t>
            </a:r>
            <a:r>
              <a:rPr dirty="0"/>
              <a:t> reruns the script when supported widget events occur.</a:t>
            </a:r>
          </a:p>
          <a:p>
            <a:endParaRPr dirty="0"/>
          </a:p>
          <a:p>
            <a:r>
              <a:rPr dirty="0"/>
              <a:t>A professional UI must not accidentally re-extract or re-embed the document on every rerun.</a:t>
            </a:r>
          </a:p>
          <a:p>
            <a:endParaRPr dirty="0"/>
          </a:p>
          <a:p>
            <a:r>
              <a:rPr dirty="0"/>
              <a:t>Our upload widget only holds the selected file.</a:t>
            </a:r>
          </a:p>
          <a:p>
            <a:endParaRPr dirty="0"/>
          </a:p>
          <a:p>
            <a:r>
              <a:rPr dirty="0"/>
              <a:t>Indexing is guarded by the Index PDF button.</a:t>
            </a:r>
          </a:p>
          <a:p>
            <a:endParaRPr dirty="0"/>
          </a:p>
          <a:p>
            <a:r>
              <a:rPr dirty="0"/>
              <a:t>The left workspace shows the current document, readiness state, upload area, and advanced settings.</a:t>
            </a:r>
          </a:p>
          <a:p>
            <a:endParaRPr dirty="0"/>
          </a:p>
          <a:p>
            <a:r>
              <a:rPr dirty="0"/>
              <a:t>The right panel collects a question and displays a persistent answer plus source passages.</a:t>
            </a:r>
          </a:p>
          <a:p>
            <a:endParaRPr dirty="0"/>
          </a:p>
          <a:p>
            <a:r>
              <a:rPr dirty="0"/>
              <a:t>The question form means typing does not invoke the model.</a:t>
            </a:r>
          </a:p>
          <a:p>
            <a:endParaRPr dirty="0"/>
          </a:p>
          <a:p>
            <a:r>
              <a:rPr dirty="0"/>
              <a:t>Example buttons only prefill the question.</a:t>
            </a:r>
          </a:p>
          <a:p>
            <a:endParaRPr dirty="0"/>
          </a:p>
          <a:p>
            <a:r>
              <a:rPr dirty="0"/>
              <a:t>Session state retains a small document summary and the last answer, question, and sources rather than all chunks and vectors.</a:t>
            </a:r>
          </a:p>
          <a:p>
            <a:endParaRPr dirty="0"/>
          </a:p>
          <a:p>
            <a:r>
              <a:rPr dirty="0"/>
              <a:t>Index statistics use a thirty-second bounded cache, with explicit invalidation after indexing.</a:t>
            </a:r>
          </a:p>
          <a:p>
            <a:endParaRPr dirty="0"/>
          </a:p>
          <a:p>
            <a:r>
              <a:rPr dirty="0"/>
              <a:t>Copy and download actions do not regenerate answers.</a:t>
            </a:r>
          </a:p>
          <a:p>
            <a:endParaRPr dirty="0"/>
          </a:p>
          <a:p>
            <a:r>
              <a:rPr dirty="0"/>
              <a:t>In app.py, the form, the submitted condition, and the indexing button condition are the key pieces to notice.</a:t>
            </a:r>
          </a:p>
          <a:p>
            <a:endParaRPr dirty="0"/>
          </a:p>
          <a:p>
            <a:r>
              <a:rPr dirty="0"/>
              <a:t>These are the boundaries that separate rendering from expensive work.</a:t>
            </a:r>
          </a:p>
          <a:p>
            <a:endParaRPr dirty="0"/>
          </a:p>
          <a:p>
            <a:r>
              <a:rPr dirty="0"/>
              <a:t>The CSS is lightweight, and no additional frontend framework was introduced.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09: PDF loader: extract pages, preserve provenance</a:t>
            </a:r>
          </a:p>
          <a:p>
            <a:r>
              <a:rPr dirty="0"/>
              <a:t>Target recording time: 08:45 - 10:00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The loader accepts a path or a binary stream.</a:t>
            </a:r>
          </a:p>
          <a:p>
            <a:endParaRPr dirty="0"/>
          </a:p>
          <a:p>
            <a:r>
              <a:rPr dirty="0"/>
              <a:t>The active upload flow passes a stream.</a:t>
            </a:r>
          </a:p>
          <a:p>
            <a:endParaRPr dirty="0"/>
          </a:p>
          <a:p>
            <a:r>
              <a:rPr dirty="0"/>
              <a:t>It checks the byte size before creating the PDF reader, rejects encrypted PDFs, checks the page count, then extracts text one page at a time.</a:t>
            </a:r>
          </a:p>
          <a:p>
            <a:endParaRPr dirty="0"/>
          </a:p>
          <a:p>
            <a:r>
              <a:rPr dirty="0"/>
              <a:t>For each non-empty page, it yields a pair containing the one-based page number and the extracted text.</a:t>
            </a:r>
          </a:p>
          <a:p>
            <a:endParaRPr dirty="0"/>
          </a:p>
          <a:p>
            <a:r>
              <a:rPr dirty="0"/>
              <a:t>That page number travels with every chunk from that page and later appears in the sources panel.</a:t>
            </a:r>
          </a:p>
          <a:p>
            <a:endParaRPr dirty="0"/>
          </a:p>
          <a:p>
            <a:r>
              <a:rPr dirty="0"/>
              <a:t>Blank pages still contribute to progress, but do not become empty embeddings.</a:t>
            </a:r>
          </a:p>
          <a:p>
            <a:endParaRPr dirty="0"/>
          </a:p>
          <a:p>
            <a:r>
              <a:rPr dirty="0"/>
              <a:t>There is a cumulative extracted-character limit as well as page and byte limits.</a:t>
            </a:r>
          </a:p>
          <a:p>
            <a:endParaRPr dirty="0"/>
          </a:p>
          <a:p>
            <a:r>
              <a:rPr dirty="0"/>
              <a:t>A scanned image-only PDF has no selectable text; the app does not automatically perform OCR.</a:t>
            </a:r>
          </a:p>
          <a:p>
            <a:endParaRPr dirty="0"/>
          </a:p>
          <a:p>
            <a:r>
              <a:rPr dirty="0"/>
              <a:t>The user should use a trusted external OCR step if needed.</a:t>
            </a:r>
          </a:p>
          <a:p>
            <a:endParaRPr dirty="0"/>
          </a:p>
          <a:p>
            <a:r>
              <a:rPr dirty="0"/>
              <a:t>An important engineering caveat is that page-by-page application processing is not a hard memory sandbox.</a:t>
            </a:r>
          </a:p>
          <a:p>
            <a:endParaRPr dirty="0"/>
          </a:p>
          <a:p>
            <a:r>
              <a:rPr dirty="0" err="1"/>
              <a:t>Pypdf</a:t>
            </a:r>
            <a:r>
              <a:rPr dirty="0"/>
              <a:t> still parses document structures, and one complex compressed page can be costly before the extracted-character limit is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10: </a:t>
            </a:r>
            <a:r>
              <a:rPr dirty="0" err="1"/>
              <a:t>Chunker</a:t>
            </a:r>
            <a:r>
              <a:rPr dirty="0"/>
              <a:t>: split text without losing the story</a:t>
            </a:r>
          </a:p>
          <a:p>
            <a:r>
              <a:rPr dirty="0"/>
              <a:t>Target recording time: 10:00 - 11:15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A model should not receive the entire PDF as a single search unit.</a:t>
            </a:r>
          </a:p>
          <a:p>
            <a:endParaRPr dirty="0"/>
          </a:p>
          <a:p>
            <a:r>
              <a:rPr dirty="0"/>
              <a:t>Chunking creates smaller spans that can be independently embedded and retrieved.</a:t>
            </a:r>
          </a:p>
          <a:p>
            <a:endParaRPr dirty="0"/>
          </a:p>
          <a:p>
            <a:r>
              <a:rPr dirty="0"/>
              <a:t>Our defaults are one thousand characters per chunk and two hundred characters of overlap, not one thousand tokens.</a:t>
            </a:r>
          </a:p>
          <a:p>
            <a:endParaRPr dirty="0"/>
          </a:p>
          <a:p>
            <a:r>
              <a:rPr dirty="0"/>
              <a:t>The </a:t>
            </a:r>
            <a:r>
              <a:rPr dirty="0" err="1"/>
              <a:t>chunker</a:t>
            </a:r>
            <a:r>
              <a:rPr dirty="0"/>
              <a:t> searches for a boundary in the latter half of the candidate window, preferring paragraph breaks, newlines, sentence-like separators, and then spaces.</a:t>
            </a:r>
          </a:p>
          <a:p>
            <a:endParaRPr dirty="0"/>
          </a:p>
          <a:p>
            <a:r>
              <a:rPr dirty="0"/>
              <a:t>If no suitable boundary exists, it uses the character limit.</a:t>
            </a:r>
          </a:p>
          <a:p>
            <a:endParaRPr dirty="0"/>
          </a:p>
          <a:p>
            <a:r>
              <a:rPr dirty="0"/>
              <a:t>Overlap carries nearby context into the next chunk; it is not a guarantee that every sentence or table stays intact.</a:t>
            </a:r>
          </a:p>
          <a:p>
            <a:endParaRPr dirty="0"/>
          </a:p>
          <a:p>
            <a:r>
              <a:rPr dirty="0"/>
              <a:t>The pipeline applies chunking to each page separately.</a:t>
            </a:r>
          </a:p>
          <a:p>
            <a:endParaRPr dirty="0"/>
          </a:p>
          <a:p>
            <a:r>
              <a:rPr dirty="0"/>
              <a:t>This makes page references simple, but a paragraph spanning pages will not receive cross-page overlap.</a:t>
            </a:r>
          </a:p>
          <a:p>
            <a:endParaRPr dirty="0"/>
          </a:p>
          <a:p>
            <a:r>
              <a:rPr dirty="0"/>
              <a:t>Also, stripped whitespace and very short boundary cases mean the overlap is a target rather than a semantic guarantee.</a:t>
            </a:r>
          </a:p>
          <a:p>
            <a:endParaRPr dirty="0"/>
          </a:p>
          <a:p>
            <a:r>
              <a:rPr dirty="0"/>
              <a:t>For a first experiment, compare chunks around a long paragraph.</a:t>
            </a:r>
          </a:p>
          <a:p>
            <a:endParaRPr dirty="0"/>
          </a:p>
          <a:p>
            <a:r>
              <a:rPr dirty="0"/>
              <a:t>Then try a table-heavy PDF and inspect the text.</a:t>
            </a:r>
          </a:p>
          <a:p>
            <a:endParaRPr dirty="0"/>
          </a:p>
          <a:p>
            <a:r>
              <a:rPr dirty="0"/>
              <a:t>Chunk size is a retrieval design choice that should be evaluated, not copied blindly.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11: Pipeline: coordinate work in bounded batches</a:t>
            </a:r>
          </a:p>
          <a:p>
            <a:r>
              <a:rPr dirty="0"/>
              <a:t>Target recording time: 11:15 - 12:30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The pipeline is the coordinator rather than a model or a database.</a:t>
            </a:r>
          </a:p>
          <a:p>
            <a:endParaRPr dirty="0"/>
          </a:p>
          <a:p>
            <a:r>
              <a:rPr dirty="0"/>
              <a:t>It consumes page text, iterates over chunks, attaches page metadata, fills a batch, calls the embedding function, and yields records to the storage layer.</a:t>
            </a:r>
          </a:p>
          <a:p>
            <a:endParaRPr dirty="0"/>
          </a:p>
          <a:p>
            <a:r>
              <a:rPr dirty="0"/>
              <a:t>The default batch size is eight, with supported values from one through thirty-two.</a:t>
            </a:r>
          </a:p>
          <a:p>
            <a:endParaRPr dirty="0"/>
          </a:p>
          <a:p>
            <a:r>
              <a:rPr dirty="0"/>
              <a:t>The fingerprint combines the pipeline version, embedding model identifier, chunk configuration, and PDF content.</a:t>
            </a:r>
          </a:p>
          <a:p>
            <a:endParaRPr dirty="0"/>
          </a:p>
          <a:p>
            <a:r>
              <a:rPr dirty="0"/>
              <a:t>The frontend compares it to the persisted index identifier.</a:t>
            </a:r>
          </a:p>
          <a:p>
            <a:endParaRPr dirty="0"/>
          </a:p>
          <a:p>
            <a:r>
              <a:rPr dirty="0"/>
              <a:t>The same content can therefore be reused even if the filename changes or the app restarts.</a:t>
            </a:r>
          </a:p>
          <a:p>
            <a:endParaRPr dirty="0"/>
          </a:p>
          <a:p>
            <a:r>
              <a:rPr dirty="0"/>
              <a:t>There is a maximum of three thousand chunks.</a:t>
            </a:r>
          </a:p>
          <a:p>
            <a:endParaRPr dirty="0"/>
          </a:p>
          <a:p>
            <a:r>
              <a:rPr dirty="0"/>
              <a:t>Records contain </a:t>
            </a:r>
            <a:r>
              <a:rPr dirty="0" err="1"/>
              <a:t>chunk_id</a:t>
            </a:r>
            <a:r>
              <a:rPr dirty="0"/>
              <a:t>, text, vector, page, source, and </a:t>
            </a:r>
            <a:r>
              <a:rPr dirty="0" err="1"/>
              <a:t>document_id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Only the first chunk is retained as a preview.</a:t>
            </a:r>
          </a:p>
          <a:p>
            <a:endParaRPr dirty="0"/>
          </a:p>
          <a:p>
            <a:r>
              <a:rPr dirty="0"/>
              <a:t>The important limitation is that the fingerprint uses the model name, not a checksum of downloaded model weights.</a:t>
            </a:r>
          </a:p>
          <a:p>
            <a:endParaRPr dirty="0"/>
          </a:p>
          <a:p>
            <a:r>
              <a:rPr dirty="0"/>
              <a:t>If the underlying model changes under the same name, rebuild the index and update the pipeline version.</a:t>
            </a:r>
          </a:p>
          <a:p>
            <a:endParaRPr dirty="0"/>
          </a:p>
          <a:p>
            <a:r>
              <a:rPr dirty="0"/>
              <a:t>Otherwise, old document vectors and new query vectors may become incompatible even if their dimensions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12: Embeddings: text becomes a semantic address</a:t>
            </a:r>
          </a:p>
          <a:p>
            <a:r>
              <a:rPr dirty="0"/>
              <a:t>Target recording time: 12:30 - 14:00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An embedding is a list of floating-point numbers that represents aspects of the meaning of a text span.</a:t>
            </a:r>
          </a:p>
          <a:p>
            <a:endParaRPr dirty="0"/>
          </a:p>
          <a:p>
            <a:r>
              <a:rPr dirty="0"/>
              <a:t>Similar text often maps to nearby points in this numerical space.</a:t>
            </a:r>
          </a:p>
          <a:p>
            <a:endParaRPr dirty="0"/>
          </a:p>
          <a:p>
            <a:r>
              <a:rPr dirty="0"/>
              <a:t>Individual coordinates are not human-readable labels, and an embedding is not a generated answer.</a:t>
            </a:r>
          </a:p>
          <a:p>
            <a:endParaRPr dirty="0"/>
          </a:p>
          <a:p>
            <a:r>
              <a:rPr dirty="0"/>
              <a:t>This project uses </a:t>
            </a:r>
            <a:r>
              <a:rPr dirty="0" err="1"/>
              <a:t>Ollama's</a:t>
            </a:r>
            <a:r>
              <a:rPr dirty="0"/>
              <a:t> nomic-embed-text model for both document chunks and questions.</a:t>
            </a:r>
          </a:p>
          <a:p>
            <a:endParaRPr dirty="0"/>
          </a:p>
          <a:p>
            <a:r>
              <a:rPr dirty="0"/>
              <a:t>The application checks the actual vector dimension; a local verification returned seven hundred and sixty-eight values.</a:t>
            </a:r>
          </a:p>
          <a:p>
            <a:endParaRPr dirty="0"/>
          </a:p>
          <a:p>
            <a:r>
              <a:rPr dirty="0"/>
              <a:t>That dimension is an observation from the local model, not a universal property of embedding models.</a:t>
            </a:r>
          </a:p>
          <a:p>
            <a:endParaRPr dirty="0"/>
          </a:p>
          <a:p>
            <a:r>
              <a:rPr dirty="0"/>
              <a:t>The embedding API accepts a list of inputs, so we use small batches instead of sending one request per chunk.</a:t>
            </a:r>
          </a:p>
          <a:p>
            <a:endParaRPr dirty="0"/>
          </a:p>
          <a:p>
            <a:r>
              <a:rPr dirty="0"/>
              <a:t>We reject incomplete response batches and blank chunks.</a:t>
            </a:r>
          </a:p>
          <a:p>
            <a:endParaRPr dirty="0"/>
          </a:p>
          <a:p>
            <a:r>
              <a:rPr dirty="0"/>
              <a:t>Truncation is disabled so oversized input is not silently shortened.</a:t>
            </a:r>
          </a:p>
          <a:p>
            <a:endParaRPr dirty="0"/>
          </a:p>
          <a:p>
            <a:r>
              <a:rPr dirty="0"/>
              <a:t>Thread limits are passed in the options.</a:t>
            </a:r>
          </a:p>
          <a:p>
            <a:endParaRPr dirty="0"/>
          </a:p>
          <a:p>
            <a:r>
              <a:rPr dirty="0"/>
              <a:t>The embedding model is kept warm for one minute during indexing to avoid reloading every batch.</a:t>
            </a:r>
          </a:p>
          <a:p>
            <a:endParaRPr dirty="0"/>
          </a:p>
          <a:p>
            <a:r>
              <a:rPr dirty="0"/>
              <a:t>Query embedding requests use </a:t>
            </a:r>
            <a:r>
              <a:rPr dirty="0" err="1"/>
              <a:t>keep_alive</a:t>
            </a:r>
            <a:r>
              <a:rPr dirty="0"/>
              <a:t> zero, asking </a:t>
            </a:r>
            <a:r>
              <a:rPr dirty="0" err="1"/>
              <a:t>Ollama</a:t>
            </a:r>
            <a:r>
              <a:rPr dirty="0"/>
              <a:t> to unload after the call.</a:t>
            </a:r>
          </a:p>
          <a:p>
            <a:endParaRPr dirty="0"/>
          </a:p>
          <a:p>
            <a:r>
              <a:rPr dirty="0"/>
              <a:t>This balances latency and memory but is not a hard guarantee about total system 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13: Indexing: stage first, publish after success</a:t>
            </a:r>
          </a:p>
          <a:p>
            <a:r>
              <a:rPr dirty="0"/>
              <a:t>Target recording time: 14:00 - 15:30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The storage layer defines a typed Arrow schema.</a:t>
            </a:r>
          </a:p>
          <a:p>
            <a:endParaRPr dirty="0"/>
          </a:p>
          <a:p>
            <a:r>
              <a:rPr dirty="0"/>
              <a:t>The vector field is a fixed-size list of float32 values, and every chunk must have the same vector length.</a:t>
            </a:r>
          </a:p>
          <a:p>
            <a:endParaRPr dirty="0"/>
          </a:p>
          <a:p>
            <a:r>
              <a:rPr dirty="0"/>
              <a:t>We write small record batches into a temporary Arrow stream before publishing the completed data to </a:t>
            </a:r>
            <a:r>
              <a:rPr dirty="0" err="1"/>
              <a:t>LanceDB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This disk staging is intentional.</a:t>
            </a:r>
          </a:p>
          <a:p>
            <a:endParaRPr dirty="0"/>
          </a:p>
          <a:p>
            <a:r>
              <a:rPr dirty="0"/>
              <a:t>It keeps PDF extraction, </a:t>
            </a:r>
            <a:r>
              <a:rPr dirty="0" err="1"/>
              <a:t>Ollama</a:t>
            </a:r>
            <a:r>
              <a:rPr dirty="0"/>
              <a:t> calls, and </a:t>
            </a:r>
            <a:r>
              <a:rPr dirty="0" err="1"/>
              <a:t>Streamlit</a:t>
            </a:r>
            <a:r>
              <a:rPr dirty="0"/>
              <a:t> progress updates on the script's calling thread.</a:t>
            </a:r>
          </a:p>
          <a:p>
            <a:endParaRPr dirty="0"/>
          </a:p>
          <a:p>
            <a:r>
              <a:rPr dirty="0" err="1"/>
              <a:t>LanceDB</a:t>
            </a:r>
            <a:r>
              <a:rPr dirty="0"/>
              <a:t> is then free to consume the completed Arrow reader on its own worker thread without invoking UI code.</a:t>
            </a:r>
          </a:p>
          <a:p>
            <a:endParaRPr dirty="0"/>
          </a:p>
          <a:p>
            <a:r>
              <a:rPr dirty="0"/>
              <a:t>Only after staging succeeds do we overwrite the documents table.</a:t>
            </a:r>
          </a:p>
          <a:p>
            <a:endParaRPr dirty="0"/>
          </a:p>
          <a:p>
            <a:r>
              <a:rPr dirty="0"/>
              <a:t>Tests verify that extraction, embedding, or dimension-validation failures leave the previous index searchable.</a:t>
            </a:r>
          </a:p>
          <a:p>
            <a:endParaRPr dirty="0"/>
          </a:p>
          <a:p>
            <a:r>
              <a:rPr dirty="0"/>
              <a:t>The temporary file is removed when the context exits.</a:t>
            </a:r>
          </a:p>
          <a:p>
            <a:endParaRPr dirty="0"/>
          </a:p>
          <a:p>
            <a:r>
              <a:rPr dirty="0"/>
              <a:t>There is one important terminology distinction here: this app stores searchable vectors, but it does not call </a:t>
            </a:r>
            <a:r>
              <a:rPr dirty="0" err="1"/>
              <a:t>create_index</a:t>
            </a:r>
            <a:r>
              <a:rPr dirty="0"/>
              <a:t> to build a separate ANN acceleration structure.</a:t>
            </a:r>
          </a:p>
          <a:p>
            <a:endParaRPr dirty="0"/>
          </a:p>
          <a:p>
            <a:r>
              <a:rPr dirty="0"/>
              <a:t>For this bounded prototype, table search works without that extra step.</a:t>
            </a:r>
          </a:p>
          <a:p>
            <a:endParaRPr dirty="0"/>
          </a:p>
          <a:p>
            <a:r>
              <a:rPr dirty="0"/>
              <a:t>As data grows, approximate indexes, tuning, and recall evaluation would be a separate engineering decision, not an already-implemented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14: Retrieval: find passages, not final answers</a:t>
            </a:r>
          </a:p>
          <a:p>
            <a:r>
              <a:rPr dirty="0"/>
              <a:t>Target recording time: 15:30 - 16:45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When a question is submitted, the app embeds the question using the same embedding model and asks </a:t>
            </a:r>
            <a:r>
              <a:rPr dirty="0" err="1"/>
              <a:t>LanceDB</a:t>
            </a:r>
            <a:r>
              <a:rPr dirty="0"/>
              <a:t> for the closest vectors.</a:t>
            </a:r>
          </a:p>
          <a:p>
            <a:endParaRPr dirty="0"/>
          </a:p>
          <a:p>
            <a:r>
              <a:rPr dirty="0"/>
              <a:t>The UI defaults to three source chunks and lets the user choose one through five.</a:t>
            </a:r>
          </a:p>
          <a:p>
            <a:endParaRPr dirty="0"/>
          </a:p>
          <a:p>
            <a:r>
              <a:rPr dirty="0"/>
              <a:t>The storage helper supports one through ten for programmatic callers.</a:t>
            </a:r>
          </a:p>
          <a:p>
            <a:endParaRPr dirty="0"/>
          </a:p>
          <a:p>
            <a:r>
              <a:rPr dirty="0"/>
              <a:t>The query selects text, chunk ID, and available page and source metadata, rather than returning every stored vector to the UI.</a:t>
            </a:r>
          </a:p>
          <a:p>
            <a:endParaRPr dirty="0"/>
          </a:p>
          <a:p>
            <a:r>
              <a:rPr dirty="0"/>
              <a:t>The underlying distance score is a ranking signal; it is not a probability that an answer is correct.</a:t>
            </a:r>
          </a:p>
          <a:p>
            <a:endParaRPr dirty="0"/>
          </a:p>
          <a:p>
            <a:r>
              <a:rPr dirty="0"/>
              <a:t>This implementation does not configure a relevance threshold, a </a:t>
            </a:r>
            <a:r>
              <a:rPr dirty="0" err="1"/>
              <a:t>reranker</a:t>
            </a:r>
            <a:r>
              <a:rPr dirty="0"/>
              <a:t>, or hybrid keyword search.</a:t>
            </a:r>
          </a:p>
          <a:p>
            <a:endParaRPr dirty="0"/>
          </a:p>
          <a:p>
            <a:r>
              <a:rPr dirty="0"/>
              <a:t>As a result, a question outside the document may still retrieve something: nearest does not necessarily mean relevant.</a:t>
            </a:r>
          </a:p>
          <a:p>
            <a:endParaRPr dirty="0"/>
          </a:p>
          <a:p>
            <a:r>
              <a:rPr dirty="0"/>
              <a:t>The answer prompt then asks the generation model to decline if the answer is not in the context, but that remains a model instruction rather than a guaranteed filter.</a:t>
            </a:r>
          </a:p>
          <a:p>
            <a:endParaRPr dirty="0"/>
          </a:p>
          <a:p>
            <a:r>
              <a:rPr dirty="0"/>
              <a:t>To evaluate retrieval, ask whether the expected passage appears among the top results before judging how well Qwen3 writes its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15: Answer LLM: write from the retrieved context</a:t>
            </a:r>
          </a:p>
          <a:p>
            <a:r>
              <a:rPr dirty="0"/>
              <a:t>Target recording time: 16:45 - 18:15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The generation module joins the retrieved chunk text and builds a prompt containing the context, question, and grounding instructions.</a:t>
            </a:r>
          </a:p>
          <a:p>
            <a:endParaRPr dirty="0"/>
          </a:p>
          <a:p>
            <a:r>
              <a:rPr dirty="0"/>
              <a:t>It asks for a clear answer, a concise summary, and bullets where appropriate.</a:t>
            </a:r>
          </a:p>
          <a:p>
            <a:endParaRPr dirty="0"/>
          </a:p>
          <a:p>
            <a:r>
              <a:rPr dirty="0"/>
              <a:t>If the information is absent, it asks the model to say that it could not find the answer.</a:t>
            </a:r>
          </a:p>
          <a:p>
            <a:endParaRPr dirty="0"/>
          </a:p>
          <a:p>
            <a:r>
              <a:rPr dirty="0"/>
              <a:t>The </a:t>
            </a:r>
            <a:r>
              <a:rPr dirty="0" err="1"/>
              <a:t>Ollama</a:t>
            </a:r>
            <a:r>
              <a:rPr dirty="0"/>
              <a:t> chat call uses the selected Qwen3 model.</a:t>
            </a:r>
          </a:p>
          <a:p>
            <a:endParaRPr dirty="0"/>
          </a:p>
          <a:p>
            <a:r>
              <a:rPr dirty="0"/>
              <a:t>The default is qwen3, and the UI also offers the smaller point-six-billion and one-point-seven-billion variants after they are installed.</a:t>
            </a:r>
          </a:p>
          <a:p>
            <a:endParaRPr dirty="0"/>
          </a:p>
          <a:p>
            <a:r>
              <a:rPr dirty="0"/>
              <a:t>Thinking is disabled, the context option is four thousand ninety-six tokens, and generated output is limited to five hundred twelve tokens.</a:t>
            </a:r>
          </a:p>
          <a:p>
            <a:endParaRPr dirty="0"/>
          </a:p>
          <a:p>
            <a:r>
              <a:rPr dirty="0"/>
              <a:t>An empty answer is treated as an error.</a:t>
            </a:r>
          </a:p>
          <a:p>
            <a:endParaRPr dirty="0"/>
          </a:p>
          <a:p>
            <a:r>
              <a:rPr dirty="0"/>
              <a:t>The current prompt supplies passage text but does not inject page identifiers as structured citations.</a:t>
            </a:r>
          </a:p>
          <a:p>
            <a:endParaRPr dirty="0"/>
          </a:p>
          <a:p>
            <a:r>
              <a:rPr dirty="0" err="1"/>
              <a:t>Streamlit</a:t>
            </a:r>
            <a:r>
              <a:rPr dirty="0"/>
              <a:t> separately displays the retrieved sources.</a:t>
            </a:r>
          </a:p>
          <a:p>
            <a:endParaRPr dirty="0"/>
          </a:p>
          <a:p>
            <a:r>
              <a:rPr dirty="0"/>
              <a:t>Therefore, call them supporting passages, not verified sentence-by-sentence citations.</a:t>
            </a:r>
          </a:p>
          <a:p>
            <a:endParaRPr dirty="0"/>
          </a:p>
          <a:p>
            <a:r>
              <a:rPr dirty="0"/>
              <a:t>The model may still misinterpret or invent details.</a:t>
            </a:r>
          </a:p>
          <a:p>
            <a:endParaRPr dirty="0"/>
          </a:p>
          <a:p>
            <a:r>
              <a:rPr dirty="0"/>
              <a:t>A large context can also exceed a model window despite character-based chunks, because characters and tokens are different units.</a:t>
            </a:r>
          </a:p>
          <a:p>
            <a:endParaRPr dirty="0"/>
          </a:p>
          <a:p>
            <a:r>
              <a:rPr dirty="0"/>
              <a:t>Review outputs against the original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16: Trace one question from input to evidence</a:t>
            </a:r>
          </a:p>
          <a:p>
            <a:r>
              <a:rPr dirty="0"/>
              <a:t>Target recording time: 18:15 - 19:30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Use this synthetic example to connect the modules.</a:t>
            </a:r>
          </a:p>
          <a:p>
            <a:endParaRPr dirty="0"/>
          </a:p>
          <a:p>
            <a:r>
              <a:rPr dirty="0"/>
              <a:t>The public-looking sample text says, 'New starters must complete security training within fourteen days.' The question asks when a new starter should finish training.</a:t>
            </a:r>
          </a:p>
          <a:p>
            <a:endParaRPr dirty="0"/>
          </a:p>
          <a:p>
            <a:r>
              <a:rPr dirty="0"/>
              <a:t>The exact same fact does not need the exact same words in the question: the query embedding can bring semantically related wording near the stored passage.</a:t>
            </a:r>
          </a:p>
          <a:p>
            <a:endParaRPr dirty="0"/>
          </a:p>
          <a:p>
            <a:r>
              <a:rPr dirty="0"/>
              <a:t>Search returns a top-ranked chunk with a page number.</a:t>
            </a:r>
          </a:p>
          <a:p>
            <a:endParaRPr dirty="0"/>
          </a:p>
          <a:p>
            <a:r>
              <a:rPr dirty="0"/>
              <a:t>The generator receives that passage, together with the question and grounding instructions, and may answer, 'Within fourteen days of starting.'</a:t>
            </a:r>
          </a:p>
          <a:p>
            <a:endParaRPr dirty="0"/>
          </a:p>
          <a:p>
            <a:r>
              <a:rPr dirty="0"/>
              <a:t>Now deliberately change the question to ask about the reimbursement limit, a fact that the sample never mentions.</a:t>
            </a:r>
          </a:p>
          <a:p>
            <a:endParaRPr dirty="0"/>
          </a:p>
          <a:p>
            <a:r>
              <a:rPr dirty="0"/>
              <a:t>Retrieval can still return nearby text, but the requested safe answer is that the information is not in the document.</a:t>
            </a:r>
          </a:p>
          <a:p>
            <a:endParaRPr dirty="0"/>
          </a:p>
          <a:p>
            <a:r>
              <a:rPr dirty="0"/>
              <a:t>The model may not decline correctly every time, so I will compare its actual response with the evidence.</a:t>
            </a:r>
          </a:p>
          <a:p>
            <a:endParaRPr dirty="0"/>
          </a:p>
          <a:p>
            <a:r>
              <a:rPr dirty="0"/>
              <a:t>This example is illustrative and synthetic, not a claim about any employer policy.</a:t>
            </a:r>
          </a:p>
          <a:p>
            <a:endParaRPr dirty="0"/>
          </a:p>
          <a:p>
            <a:r>
              <a:rPr dirty="0"/>
              <a:t>It makes an excellent first evaluation case because the expected answer and evidence are unambiguous.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17: Live demo: a three-minute proof of the flow</a:t>
            </a:r>
          </a:p>
          <a:p>
            <a:r>
              <a:rPr dirty="0"/>
              <a:t>Target recording time: 19:30 - 22:30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Let me now demonstrate the complete flow using a small synthetic PDF.</a:t>
            </a:r>
          </a:p>
          <a:p>
            <a:endParaRPr dirty="0"/>
          </a:p>
          <a:p>
            <a:r>
              <a:rPr dirty="0"/>
              <a:t>First, I am opening the document itself so we know the facts before asking a model.</a:t>
            </a:r>
          </a:p>
          <a:p>
            <a:endParaRPr dirty="0"/>
          </a:p>
          <a:p>
            <a:r>
              <a:rPr dirty="0"/>
              <a:t>This lets us compare the answer with the actual wording and page, rather than judging whether it simply sounds convincing.</a:t>
            </a:r>
          </a:p>
          <a:p>
            <a:endParaRPr dirty="0"/>
          </a:p>
          <a:p>
            <a:r>
              <a:rPr dirty="0"/>
              <a:t>Now I am switching to the Knowledge Assistant workspace and selecting the PDF.</a:t>
            </a:r>
          </a:p>
          <a:p>
            <a:endParaRPr dirty="0"/>
          </a:p>
          <a:p>
            <a:r>
              <a:rPr dirty="0"/>
              <a:t>Notice that choosing the file does not start extraction or embeddings.</a:t>
            </a:r>
          </a:p>
          <a:p>
            <a:endParaRPr dirty="0"/>
          </a:p>
          <a:p>
            <a:r>
              <a:rPr dirty="0"/>
              <a:t>That work starts only when I select Index PDF.</a:t>
            </a:r>
          </a:p>
          <a:p>
            <a:endParaRPr dirty="0"/>
          </a:p>
          <a:p>
            <a:r>
              <a:rPr dirty="0"/>
              <a:t>In Advanced settings, I can choose a model that is already installed, limit CPU threads, and set a small embedding batch.</a:t>
            </a:r>
          </a:p>
          <a:p>
            <a:endParaRPr dirty="0"/>
          </a:p>
          <a:p>
            <a:r>
              <a:rPr dirty="0"/>
              <a:t>These settings help keep the demonstration practical on a laptop.</a:t>
            </a:r>
          </a:p>
          <a:p>
            <a:endParaRPr dirty="0"/>
          </a:p>
          <a:p>
            <a:r>
              <a:rPr dirty="0"/>
              <a:t>I am now selecting Index PDF.</a:t>
            </a:r>
          </a:p>
          <a:p>
            <a:endParaRPr dirty="0"/>
          </a:p>
          <a:p>
            <a:r>
              <a:rPr dirty="0"/>
              <a:t>The progress indicator shows pages processed and chunks embedded.</a:t>
            </a:r>
          </a:p>
          <a:p>
            <a:endParaRPr dirty="0"/>
          </a:p>
          <a:p>
            <a:r>
              <a:rPr dirty="0"/>
              <a:t>Behind this screen, the loader extracts page text, the </a:t>
            </a:r>
            <a:r>
              <a:rPr dirty="0" err="1"/>
              <a:t>chunker</a:t>
            </a:r>
            <a:r>
              <a:rPr dirty="0"/>
              <a:t> creates smaller spans, and </a:t>
            </a:r>
            <a:r>
              <a:rPr dirty="0" err="1"/>
              <a:t>Ollama</a:t>
            </a:r>
            <a:r>
              <a:rPr dirty="0"/>
              <a:t> generates their vectors.</a:t>
            </a:r>
          </a:p>
          <a:p>
            <a:endParaRPr dirty="0"/>
          </a:p>
          <a:p>
            <a:r>
              <a:rPr dirty="0"/>
              <a:t>The completed batches are staged safely before </a:t>
            </a:r>
            <a:r>
              <a:rPr dirty="0" err="1"/>
              <a:t>LanceDB</a:t>
            </a:r>
            <a:r>
              <a:rPr dirty="0"/>
              <a:t> replaces the current index.</a:t>
            </a:r>
          </a:p>
          <a:p>
            <a:endParaRPr dirty="0"/>
          </a:p>
          <a:p>
            <a:r>
              <a:rPr dirty="0"/>
              <a:t>Once indexing is complete, I can ask a factual question about the PDF.</a:t>
            </a:r>
          </a:p>
          <a:p>
            <a:endParaRPr dirty="0"/>
          </a:p>
          <a:p>
            <a:r>
              <a:rPr dirty="0"/>
              <a:t>I am entering a question whose answer we have already located in the document.</a:t>
            </a:r>
          </a:p>
          <a:p>
            <a:endParaRPr dirty="0"/>
          </a:p>
          <a:p>
            <a:r>
              <a:rPr dirty="0"/>
              <a:t>The system embeds my question, retrieves relevant text, and asks Qwen3 to answer from that text.</a:t>
            </a:r>
          </a:p>
          <a:p>
            <a:endParaRPr dirty="0"/>
          </a:p>
          <a:p>
            <a:r>
              <a:rPr dirty="0"/>
              <a:t>Here I will compare the actual generated answer with the original passage.</a:t>
            </a:r>
          </a:p>
          <a:p>
            <a:endParaRPr dirty="0"/>
          </a:p>
          <a:p>
            <a:r>
              <a:rPr dirty="0"/>
              <a:t>I am expanding the source reference to check the page number and the text used as context.</a:t>
            </a:r>
          </a:p>
          <a:p>
            <a:endParaRPr dirty="0"/>
          </a:p>
          <a:p>
            <a:r>
              <a:rPr dirty="0"/>
              <a:t>A source reference helps me verify an answer; it does not automatically prove every generated sentence.</a:t>
            </a:r>
          </a:p>
          <a:p>
            <a:endParaRPr dirty="0"/>
          </a:p>
          <a:p>
            <a:r>
              <a:rPr dirty="0"/>
              <a:t>The Copy answer section gives me a copyable version, and Download answer saves the existing response.</a:t>
            </a:r>
          </a:p>
          <a:p>
            <a:endParaRPr dirty="0"/>
          </a:p>
          <a:p>
            <a:r>
              <a:rPr dirty="0"/>
              <a:t>Neither action needs another model request.</a:t>
            </a:r>
          </a:p>
          <a:p>
            <a:endParaRPr dirty="0"/>
          </a:p>
          <a:p>
            <a:r>
              <a:rPr dirty="0"/>
              <a:t>Next, I am selecting Index PDF again for the same file.</a:t>
            </a:r>
          </a:p>
          <a:p>
            <a:endParaRPr dirty="0"/>
          </a:p>
          <a:p>
            <a:r>
              <a:rPr dirty="0"/>
              <a:t>The app recognizes its content fingerprint and skips repeated embedding work.</a:t>
            </a:r>
          </a:p>
          <a:p>
            <a:endParaRPr dirty="0"/>
          </a:p>
          <a:p>
            <a:r>
              <a:rPr dirty="0"/>
              <a:t>Finally, I am asking about information that is not present in the PDF.</a:t>
            </a:r>
          </a:p>
          <a:p>
            <a:endParaRPr dirty="0"/>
          </a:p>
          <a:p>
            <a:r>
              <a:rPr dirty="0"/>
              <a:t>The instruction given to the model is to say that it could not find the answer.</a:t>
            </a:r>
          </a:p>
          <a:p>
            <a:endParaRPr dirty="0"/>
          </a:p>
          <a:p>
            <a:r>
              <a:rPr dirty="0"/>
              <a:t>I will check the actual response rather than assume the instruction always works.</a:t>
            </a:r>
          </a:p>
          <a:p>
            <a:endParaRPr dirty="0"/>
          </a:p>
          <a:p>
            <a:r>
              <a:rPr dirty="0"/>
              <a:t>If it invents a detail, that is a useful evaluation failure, not something to hide.</a:t>
            </a:r>
          </a:p>
          <a:p>
            <a:endParaRPr dirty="0"/>
          </a:p>
          <a:p>
            <a:r>
              <a:rPr dirty="0"/>
              <a:t>This completes the flow from document upload to retrieval, answer generation, and evidence checking.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18: Laptop performance is a system problem</a:t>
            </a:r>
          </a:p>
          <a:p>
            <a:r>
              <a:rPr dirty="0"/>
              <a:t>Target recording time: 22:30 - 23:45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The original user experience suffered from heavy CPU and memory usage.</a:t>
            </a:r>
          </a:p>
          <a:p>
            <a:endParaRPr dirty="0"/>
          </a:p>
          <a:p>
            <a:r>
              <a:rPr dirty="0"/>
              <a:t>The fixes reduce redundant work and bound application-level batches.</a:t>
            </a:r>
          </a:p>
          <a:p>
            <a:endParaRPr dirty="0"/>
          </a:p>
          <a:p>
            <a:r>
              <a:rPr dirty="0"/>
              <a:t>We removed heavyweight chunking imports, avoided saving the same upload on every rerun, stopped keeping every vector in session state, and batched embedding requests.</a:t>
            </a:r>
          </a:p>
          <a:p>
            <a:endParaRPr dirty="0"/>
          </a:p>
          <a:p>
            <a:r>
              <a:rPr dirty="0"/>
              <a:t>The current storage path stages Arrow batches on disk, so we do not accumulate the whole document's Python vector lists.</a:t>
            </a:r>
          </a:p>
          <a:p>
            <a:endParaRPr dirty="0"/>
          </a:p>
          <a:p>
            <a:r>
              <a:rPr dirty="0"/>
              <a:t>This trades some temporary-disk I/O for lower application memory and correct threading.</a:t>
            </a:r>
          </a:p>
          <a:p>
            <a:endParaRPr dirty="0"/>
          </a:p>
          <a:p>
            <a:r>
              <a:rPr dirty="0"/>
              <a:t>PDF structures, native Arrow allocations, and the model server still consume additional memory.</a:t>
            </a:r>
          </a:p>
          <a:p>
            <a:endParaRPr dirty="0"/>
          </a:p>
          <a:p>
            <a:r>
              <a:rPr dirty="0" err="1"/>
              <a:t>Ollama</a:t>
            </a:r>
            <a:r>
              <a:rPr dirty="0"/>
              <a:t> is a separate process, and a large model can dominate RAM even when </a:t>
            </a:r>
            <a:r>
              <a:rPr dirty="0" err="1"/>
              <a:t>Streamlit</a:t>
            </a:r>
            <a:r>
              <a:rPr dirty="0"/>
              <a:t> is lightweight.</a:t>
            </a:r>
          </a:p>
          <a:p>
            <a:endParaRPr dirty="0"/>
          </a:p>
          <a:p>
            <a:r>
              <a:rPr dirty="0"/>
              <a:t>Thread limits control per-request CPU threads, not GPU utilization or a strict percentage cap.</a:t>
            </a:r>
          </a:p>
          <a:p>
            <a:endParaRPr dirty="0"/>
          </a:p>
          <a:p>
            <a:r>
              <a:rPr dirty="0"/>
              <a:t>Keep the number of loaded models and parallel requests low on the </a:t>
            </a:r>
            <a:r>
              <a:rPr dirty="0" err="1"/>
              <a:t>Ollama</a:t>
            </a:r>
            <a:r>
              <a:rPr dirty="0"/>
              <a:t> server if necessary.</a:t>
            </a:r>
          </a:p>
          <a:p>
            <a:endParaRPr dirty="0"/>
          </a:p>
          <a:p>
            <a:r>
              <a:rPr dirty="0"/>
              <a:t>I am not claiming that earlier microbenchmark numbers guarantee current end-to-end performance: the storage design changed after the threading fix, and system workload, PDF complexity, model choice, and cache warmth all affect measurements.</a:t>
            </a:r>
          </a:p>
          <a:p>
            <a:endParaRPr dirty="0"/>
          </a:p>
          <a:p>
            <a:r>
              <a:rPr dirty="0"/>
              <a:t>Measure extraction, embedding, search, and answer latency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19: A real bug: database workers cannot update the UI</a:t>
            </a:r>
          </a:p>
          <a:p>
            <a:r>
              <a:rPr dirty="0"/>
              <a:t>Target recording time: 23:45 - 24:45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Let me share a real debugging issue that helped me understand framework boundaries.</a:t>
            </a:r>
          </a:p>
          <a:p>
            <a:endParaRPr dirty="0"/>
          </a:p>
          <a:p>
            <a:r>
              <a:rPr dirty="0"/>
              <a:t>The initial version passed a Python generator directly to </a:t>
            </a:r>
            <a:r>
              <a:rPr dirty="0" err="1"/>
              <a:t>LanceDB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The first batch was evaluated on the caller thread, so a small one-batch test could succeed.</a:t>
            </a:r>
          </a:p>
          <a:p>
            <a:endParaRPr dirty="0"/>
          </a:p>
          <a:p>
            <a:r>
              <a:rPr dirty="0"/>
              <a:t>Later batches were consumed on a database worker thread.</a:t>
            </a:r>
          </a:p>
          <a:p>
            <a:endParaRPr dirty="0"/>
          </a:p>
          <a:p>
            <a:r>
              <a:rPr dirty="0"/>
              <a:t>Those later batches extracted more pages and invoked the </a:t>
            </a:r>
            <a:r>
              <a:rPr dirty="0" err="1"/>
              <a:t>Streamlit</a:t>
            </a:r>
            <a:r>
              <a:rPr dirty="0"/>
              <a:t> progress callback.</a:t>
            </a:r>
          </a:p>
          <a:p>
            <a:endParaRPr dirty="0"/>
          </a:p>
          <a:p>
            <a:r>
              <a:rPr dirty="0" err="1"/>
              <a:t>Streamlit</a:t>
            </a:r>
            <a:r>
              <a:rPr dirty="0"/>
              <a:t> requires a session context on the script thread, so the operation failed with </a:t>
            </a:r>
            <a:r>
              <a:rPr dirty="0" err="1"/>
              <a:t>NoSessionContext</a:t>
            </a:r>
            <a:r>
              <a:rPr dirty="0"/>
              <a:t>, wrapped inside a Lance Arrow error.</a:t>
            </a:r>
          </a:p>
          <a:p>
            <a:endParaRPr dirty="0"/>
          </a:p>
          <a:p>
            <a:r>
              <a:rPr dirty="0"/>
              <a:t>The database was not the original source of the application-level mistake.</a:t>
            </a:r>
          </a:p>
          <a:p>
            <a:endParaRPr dirty="0"/>
          </a:p>
          <a:p>
            <a:r>
              <a:rPr dirty="0"/>
              <a:t>We reproduced it with a test that compared callback thread identities, then changed the producer boundary.</a:t>
            </a:r>
          </a:p>
          <a:p>
            <a:endParaRPr dirty="0"/>
          </a:p>
          <a:p>
            <a:r>
              <a:rPr dirty="0"/>
              <a:t>The caller thread now completes extraction, embeddings, and progress while writing a temporary Arrow file.</a:t>
            </a:r>
          </a:p>
          <a:p>
            <a:endParaRPr dirty="0"/>
          </a:p>
          <a:p>
            <a:r>
              <a:rPr dirty="0"/>
              <a:t>The database only receives a reader of already-prepared data.</a:t>
            </a:r>
          </a:p>
          <a:p>
            <a:endParaRPr dirty="0"/>
          </a:p>
          <a:p>
            <a:r>
              <a:rPr dirty="0"/>
              <a:t>This teaches two lessons: test more than one batch, and test framework boundaries rather than only happy-path functions.</a:t>
            </a:r>
          </a:p>
          <a:p>
            <a:endParaRPr dirty="0"/>
          </a:p>
          <a:p>
            <a:r>
              <a:rPr dirty="0"/>
              <a:t>The regression suite now includes real multi-batch </a:t>
            </a:r>
            <a:r>
              <a:rPr dirty="0" err="1"/>
              <a:t>Streamlit</a:t>
            </a:r>
            <a:r>
              <a:rPr dirty="0"/>
              <a:t> indexing with PDF extraction and temporary </a:t>
            </a:r>
            <a:r>
              <a:rPr dirty="0" err="1"/>
              <a:t>LanceDB</a:t>
            </a:r>
            <a:r>
              <a:rPr dirty="0"/>
              <a:t> storage, while </a:t>
            </a:r>
            <a:r>
              <a:rPr dirty="0" err="1"/>
              <a:t>Ollama</a:t>
            </a:r>
            <a:r>
              <a:rPr dirty="0"/>
              <a:t> responses are mocked.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20: Tests protect behavior, not just syntax</a:t>
            </a:r>
          </a:p>
          <a:p>
            <a:r>
              <a:t>Target recording time: 24:45 - 25:45</a:t>
            </a:r>
          </a:p>
          <a:p>
            <a:r>
              <a:t>[Timing and this heading are not spoken. Read the script below aloud.]</a:t>
            </a:r>
          </a:p>
          <a:p>
            <a:endParaRPr/>
          </a:p>
          <a:p>
            <a:r>
              <a:t>WHAT I SAY</a:t>
            </a:r>
          </a:p>
          <a:p>
            <a:endParaRPr/>
          </a:p>
          <a:p>
            <a:r>
              <a:t>The current regression suite has thirty-two tests.</a:t>
            </a:r>
          </a:p>
          <a:p>
            <a:endParaRPr/>
          </a:p>
          <a:p>
            <a:r>
              <a:t>The ingestion tests use actual PDF extraction and temporary LanceDB databases, while the model API is mocked for determinism and speed.</a:t>
            </a:r>
          </a:p>
          <a:p>
            <a:endParaRPr/>
          </a:p>
          <a:p>
            <a:r>
              <a:t>They check chunk sizes, limits, response validation, legacy tables, failed-overwrite preservation, and callback thread affinity.</a:t>
            </a:r>
          </a:p>
          <a:p>
            <a:endParaRPr/>
          </a:p>
          <a:p>
            <a:r>
              <a:t>The frontend tests use Streamlit AppTest.</a:t>
            </a:r>
          </a:p>
          <a:p>
            <a:endParaRPr/>
          </a:p>
          <a:p>
            <a:r>
              <a:t>They verify that uploads do not start indexing, duplicate files skip work, example prompts only prefill, answers persist across reruns, and database errors are visible.</a:t>
            </a:r>
          </a:p>
          <a:p>
            <a:endParaRPr/>
          </a:p>
          <a:p>
            <a:r>
              <a:t>The multi-batch test is especially important because it exercises the bug we just discussed.</a:t>
            </a:r>
          </a:p>
          <a:p>
            <a:endParaRPr/>
          </a:p>
          <a:p>
            <a:r>
              <a:t>These tests do not certify the semantic quality of an LLM.</a:t>
            </a:r>
          </a:p>
          <a:p>
            <a:endParaRPr/>
          </a:p>
          <a:p>
            <a:r>
              <a:t>A separate evaluation set should include answerable questions, missing-information questions, ambiguous wording, and questions whose answer crosses chunks.</a:t>
            </a:r>
          </a:p>
          <a:p>
            <a:endParaRPr/>
          </a:p>
          <a:p>
            <a:r>
              <a:t>Score retrieval relevance and answer faithfulness independently.</a:t>
            </a:r>
          </a:p>
          <a:p>
            <a:endParaRPr/>
          </a:p>
          <a:p>
            <a:r>
              <a:t>For a fresher, start with five questions and manually record expected answers plus pages.</a:t>
            </a:r>
          </a:p>
          <a:p>
            <a:endParaRPr/>
          </a:p>
          <a:p>
            <a:r>
              <a:t>Expand to a small reproducible dataset before changing models or chunk settings.</a:t>
            </a:r>
          </a:p>
          <a:p>
            <a:endParaRPr/>
          </a:p>
          <a:p>
            <a:r>
              <a:t>A passing unit suite and a good-looking demo are necessary evidence, but neither makes the app production-ready.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21: Know the limits before sharing a demo</a:t>
            </a:r>
          </a:p>
          <a:p>
            <a:r>
              <a:rPr dirty="0"/>
              <a:t>Target recording time: 25:45 - 26:45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Be precise about what the project currently guarantees and what it does not.</a:t>
            </a:r>
          </a:p>
          <a:p>
            <a:endParaRPr dirty="0"/>
          </a:p>
          <a:p>
            <a:r>
              <a:rPr dirty="0"/>
              <a:t>It maintains one current PDF index.</a:t>
            </a:r>
          </a:p>
          <a:p>
            <a:endParaRPr dirty="0"/>
          </a:p>
          <a:p>
            <a:r>
              <a:rPr dirty="0"/>
              <a:t>A new successful upload replaces it.</a:t>
            </a:r>
          </a:p>
          <a:p>
            <a:endParaRPr dirty="0"/>
          </a:p>
          <a:p>
            <a:r>
              <a:rPr dirty="0"/>
              <a:t>It has no OCR pipeline, no table-aware extraction, no reranking, and no configured relevance threshold.</a:t>
            </a:r>
          </a:p>
          <a:p>
            <a:endParaRPr dirty="0"/>
          </a:p>
          <a:p>
            <a:r>
              <a:rPr dirty="0"/>
              <a:t>It also lacks authentication and per-user document isolation.</a:t>
            </a:r>
          </a:p>
          <a:p>
            <a:endParaRPr dirty="0"/>
          </a:p>
          <a:p>
            <a:r>
              <a:rPr dirty="0"/>
              <a:t>The privacy badge describes local execution in this configuration.</a:t>
            </a:r>
          </a:p>
          <a:p>
            <a:endParaRPr dirty="0"/>
          </a:p>
          <a:p>
            <a:r>
              <a:rPr dirty="0"/>
              <a:t>It does not make the app safe to expose publicly or suitable for confidential enterprise documents.</a:t>
            </a:r>
          </a:p>
          <a:p>
            <a:endParaRPr dirty="0"/>
          </a:p>
          <a:p>
            <a:r>
              <a:rPr dirty="0"/>
              <a:t>Extracted content remains in the local database and is staged temporarily during indexing.</a:t>
            </a:r>
          </a:p>
          <a:p>
            <a:endParaRPr dirty="0"/>
          </a:p>
          <a:p>
            <a:r>
              <a:rPr dirty="0"/>
              <a:t>Document text may contain prompt-injection instructions.</a:t>
            </a:r>
          </a:p>
          <a:p>
            <a:endParaRPr dirty="0"/>
          </a:p>
          <a:p>
            <a:r>
              <a:rPr dirty="0"/>
              <a:t>The current prompt is not a complete defense, and retrieved passages are not proof that every generated sentence is supported.</a:t>
            </a:r>
          </a:p>
          <a:p>
            <a:endParaRPr dirty="0"/>
          </a:p>
          <a:p>
            <a:r>
              <a:rPr dirty="0"/>
              <a:t>Security hardening is a future requirement, not a feature demonstrated by local execution.</a:t>
            </a:r>
          </a:p>
          <a:p>
            <a:endParaRPr dirty="0"/>
          </a:p>
          <a:p>
            <a:r>
              <a:rPr dirty="0"/>
              <a:t>For this learning demo, I keep the app on localhost, use trusted synthetic documents, and verify important answers.</a:t>
            </a:r>
          </a:p>
          <a:p>
            <a:endParaRPr dirty="0"/>
          </a:p>
          <a:p>
            <a:r>
              <a:rPr dirty="0"/>
              <a:t>If you discuss enterprise use cases, frame them as possible future extensions subject to organizational policy, security review, and evaluation.</a:t>
            </a:r>
          </a:p>
          <a:p>
            <a:endParaRPr dirty="0"/>
          </a:p>
          <a:p>
            <a:r>
              <a:rPr dirty="0"/>
              <a:t>This is an independent personal learning project, not a company product or endorsement.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22: From prototype to production: a staged roadmap</a:t>
            </a:r>
          </a:p>
          <a:p>
            <a:r>
              <a:rPr dirty="0"/>
              <a:t>Target recording time: 26:45 - 27:45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A roadmap should separate desirable capabilities from currently implemented ones.</a:t>
            </a:r>
          </a:p>
          <a:p>
            <a:endParaRPr dirty="0"/>
          </a:p>
          <a:p>
            <a:r>
              <a:rPr dirty="0"/>
              <a:t>First improve quality: add a repeatable evaluation set, token-aware context budgeting, and experiments with hybrid search or reranking.</a:t>
            </a:r>
          </a:p>
          <a:p>
            <a:endParaRPr dirty="0"/>
          </a:p>
          <a:p>
            <a:r>
              <a:rPr dirty="0"/>
              <a:t>Consider heading-aware or table-aware ingestion only when your documents need it.</a:t>
            </a:r>
          </a:p>
          <a:p>
            <a:endParaRPr dirty="0"/>
          </a:p>
          <a:p>
            <a:r>
              <a:rPr dirty="0"/>
              <a:t>Second improve operations: collect per-stage latency, handle timeouts explicitly, define model and embedding versions, and manage indexing jobs independently from UI sessions.</a:t>
            </a:r>
          </a:p>
          <a:p>
            <a:endParaRPr dirty="0"/>
          </a:p>
          <a:p>
            <a:r>
              <a:rPr dirty="0"/>
              <a:t>A background job design must report progress safely rather than directly touching </a:t>
            </a:r>
            <a:r>
              <a:rPr dirty="0" err="1"/>
              <a:t>Streamlit</a:t>
            </a:r>
            <a:r>
              <a:rPr dirty="0"/>
              <a:t> from workers.</a:t>
            </a:r>
          </a:p>
          <a:p>
            <a:endParaRPr dirty="0"/>
          </a:p>
          <a:p>
            <a:r>
              <a:rPr dirty="0"/>
              <a:t>Third improve trust and deployment: authenticate users, isolate document collections, apply access controls before retrieval, protect uploaded content, and define retention and deletion.</a:t>
            </a:r>
          </a:p>
          <a:p>
            <a:endParaRPr dirty="0"/>
          </a:p>
          <a:p>
            <a:r>
              <a:rPr dirty="0"/>
              <a:t>Add adversarial testing, auditability, dependency management, and a proper security review.</a:t>
            </a:r>
          </a:p>
          <a:p>
            <a:endParaRPr dirty="0"/>
          </a:p>
          <a:p>
            <a:r>
              <a:rPr dirty="0"/>
              <a:t>Do not implement everything at once.</a:t>
            </a:r>
          </a:p>
          <a:p>
            <a:endParaRPr dirty="0"/>
          </a:p>
          <a:p>
            <a:r>
              <a:rPr dirty="0"/>
              <a:t>Pick the next feature based on a measured failure case.</a:t>
            </a:r>
          </a:p>
          <a:p>
            <a:endParaRPr dirty="0"/>
          </a:p>
          <a:p>
            <a:r>
              <a:rPr dirty="0"/>
              <a:t>For example, if the expected passage is missing, improve retrieval before changing the answer prompt.</a:t>
            </a:r>
          </a:p>
          <a:p>
            <a:endParaRPr dirty="0"/>
          </a:p>
          <a:p>
            <a:r>
              <a:rPr dirty="0"/>
              <a:t>If RAM is the blocker, compare model sizes before redesigning the UI.</a:t>
            </a:r>
          </a:p>
          <a:p>
            <a:endParaRPr dirty="0"/>
          </a:p>
          <a:p>
            <a:r>
              <a:rPr dirty="0"/>
              <a:t>This prioritization is part of the capability you are demonstrating.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23: A fresher's four-week learning plan</a:t>
            </a:r>
          </a:p>
          <a:p>
            <a:r>
              <a:rPr dirty="0"/>
              <a:t>Target recording time: 27:45 - 28:45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If you are starting today, use four milestones rather than trying to learn every GenAI tool at once.</a:t>
            </a:r>
          </a:p>
          <a:p>
            <a:endParaRPr dirty="0"/>
          </a:p>
          <a:p>
            <a:r>
              <a:rPr dirty="0"/>
              <a:t>In the first week, learn enough Python to work with files, functions, generators, dictionaries, virtual environments, and HTTP APIs.</a:t>
            </a:r>
          </a:p>
          <a:p>
            <a:endParaRPr dirty="0"/>
          </a:p>
          <a:p>
            <a:r>
              <a:rPr dirty="0"/>
              <a:t>Your deliverable is a script that extracts text from one PDF.</a:t>
            </a:r>
          </a:p>
          <a:p>
            <a:endParaRPr dirty="0"/>
          </a:p>
          <a:p>
            <a:r>
              <a:rPr dirty="0"/>
              <a:t>In week two, understand embeddings and distance-based search.</a:t>
            </a:r>
          </a:p>
          <a:p>
            <a:endParaRPr dirty="0"/>
          </a:p>
          <a:p>
            <a:r>
              <a:rPr dirty="0"/>
              <a:t>Create chunks, embed them, store them, and retrieve the right passage for five questions.</a:t>
            </a:r>
          </a:p>
          <a:p>
            <a:endParaRPr dirty="0"/>
          </a:p>
          <a:p>
            <a:r>
              <a:rPr dirty="0"/>
              <a:t>You do not need a generation model for this milestone.</a:t>
            </a:r>
          </a:p>
          <a:p>
            <a:endParaRPr dirty="0"/>
          </a:p>
          <a:p>
            <a:r>
              <a:rPr dirty="0"/>
              <a:t>In week three, add the grounded prompt and a simple </a:t>
            </a:r>
            <a:r>
              <a:rPr dirty="0" err="1"/>
              <a:t>Streamlit</a:t>
            </a:r>
            <a:r>
              <a:rPr dirty="0"/>
              <a:t> form.</a:t>
            </a:r>
          </a:p>
          <a:p>
            <a:endParaRPr dirty="0"/>
          </a:p>
          <a:p>
            <a:r>
              <a:rPr dirty="0"/>
              <a:t>Your deliverable is an answer with visible evidence.</a:t>
            </a:r>
          </a:p>
          <a:p>
            <a:endParaRPr dirty="0"/>
          </a:p>
          <a:p>
            <a:r>
              <a:rPr dirty="0"/>
              <a:t>In week four, add tests, latency measurements, resource limits, and documentation, then record a short demonstration with one honest failure case.</a:t>
            </a:r>
          </a:p>
          <a:p>
            <a:endParaRPr dirty="0"/>
          </a:p>
          <a:p>
            <a:r>
              <a:rPr dirty="0"/>
              <a:t>The purpose is not to finish an advanced system in four weeks regardless of background.</a:t>
            </a:r>
          </a:p>
          <a:p>
            <a:endParaRPr dirty="0"/>
          </a:p>
          <a:p>
            <a:r>
              <a:rPr dirty="0"/>
              <a:t>It is a suggested sequence that you can slow down.</a:t>
            </a:r>
          </a:p>
          <a:p>
            <a:endParaRPr dirty="0"/>
          </a:p>
          <a:p>
            <a:r>
              <a:rPr dirty="0"/>
              <a:t>Explain every module in your own words and modify one setting at a time.</a:t>
            </a:r>
          </a:p>
          <a:p>
            <a:endParaRPr dirty="0"/>
          </a:p>
          <a:p>
            <a:r>
              <a:rPr dirty="0"/>
              <a:t>That creates durable understanding and a portfolio that shows reasoning rather than copied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24: Make it your project, not just a tutorial</a:t>
            </a:r>
          </a:p>
          <a:p>
            <a:r>
              <a:rPr dirty="0"/>
              <a:t>Target recording time: 28:45 - 29:30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To turn this into your own learning project, choose one safe document domain.</a:t>
            </a:r>
          </a:p>
          <a:p>
            <a:endParaRPr dirty="0"/>
          </a:p>
          <a:p>
            <a:r>
              <a:rPr dirty="0"/>
              <a:t>A public product manual, an open training guide, or a synthetic FAQ is enough.</a:t>
            </a:r>
          </a:p>
          <a:p>
            <a:endParaRPr dirty="0"/>
          </a:p>
          <a:p>
            <a:r>
              <a:rPr dirty="0"/>
              <a:t>Write five questions with expected supporting passages and run the baseline.</a:t>
            </a:r>
          </a:p>
          <a:p>
            <a:endParaRPr dirty="0"/>
          </a:p>
          <a:p>
            <a:r>
              <a:rPr dirty="0"/>
              <a:t>Then change exactly one variable: chunk size, overlap, top-k, or answer model.</a:t>
            </a:r>
          </a:p>
          <a:p>
            <a:endParaRPr dirty="0"/>
          </a:p>
          <a:p>
            <a:r>
              <a:rPr dirty="0"/>
              <a:t>Record what improved and what became worse.</a:t>
            </a:r>
          </a:p>
          <a:p>
            <a:endParaRPr dirty="0"/>
          </a:p>
          <a:p>
            <a:r>
              <a:rPr dirty="0"/>
              <a:t>Add one regression test based on a real failure, and update the README with the measured result and its limits.</a:t>
            </a:r>
          </a:p>
          <a:p>
            <a:endParaRPr dirty="0"/>
          </a:p>
          <a:p>
            <a:r>
              <a:rPr dirty="0"/>
              <a:t>For a portfolio walkthrough, show the problem, architecture, code boundary, evidence, and trade-off.</a:t>
            </a:r>
          </a:p>
          <a:p>
            <a:endParaRPr dirty="0"/>
          </a:p>
          <a:p>
            <a:r>
              <a:rPr dirty="0"/>
              <a:t>Do not present unsupported claims about accuracy or cost savings.</a:t>
            </a:r>
          </a:p>
          <a:p>
            <a:endParaRPr dirty="0"/>
          </a:p>
          <a:p>
            <a:r>
              <a:rPr dirty="0"/>
              <a:t>A small application with clear evaluation, honest limitations, and an explained bug fix demonstrates more capability than a large list of technologies.</a:t>
            </a:r>
          </a:p>
          <a:p>
            <a:endParaRPr dirty="0"/>
          </a:p>
          <a:p>
            <a:r>
              <a:rPr dirty="0"/>
              <a:t>Before moving on, think about the first safe document and the first question you would use for your own experiment.</a:t>
            </a:r>
          </a:p>
          <a:p>
            <a:endParaRPr dirty="0"/>
          </a:p>
          <a:p>
            <a:r>
              <a:rPr dirty="0"/>
              <a:t>The best next step is a reproducible experiment, not another library installation.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25: Build small. Ground answers. Learn deliberately.</a:t>
            </a:r>
          </a:p>
          <a:p>
            <a:r>
              <a:rPr dirty="0"/>
              <a:t>Target recording time: 29:30 - 30:00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Let us recap the complete flow.</a:t>
            </a:r>
          </a:p>
          <a:p>
            <a:endParaRPr dirty="0"/>
          </a:p>
          <a:p>
            <a:r>
              <a:rPr dirty="0" err="1"/>
              <a:t>Streamlit</a:t>
            </a:r>
            <a:r>
              <a:rPr dirty="0"/>
              <a:t> receives the PDF, the loader extracts pages, the </a:t>
            </a:r>
            <a:r>
              <a:rPr dirty="0" err="1"/>
              <a:t>chunker</a:t>
            </a:r>
            <a:r>
              <a:rPr dirty="0"/>
              <a:t> creates spans, nomic-embed-text produces vectors, and Arrow plus </a:t>
            </a:r>
            <a:r>
              <a:rPr dirty="0" err="1"/>
              <a:t>LanceDB</a:t>
            </a:r>
            <a:r>
              <a:rPr dirty="0"/>
              <a:t> stores the searchable knowledge base.</a:t>
            </a:r>
          </a:p>
          <a:p>
            <a:endParaRPr dirty="0"/>
          </a:p>
          <a:p>
            <a:r>
              <a:rPr dirty="0"/>
              <a:t>A question becomes another vector, retrieval finds passages, and Qwen3 writes from that context.</a:t>
            </a:r>
          </a:p>
          <a:p>
            <a:endParaRPr dirty="0"/>
          </a:p>
          <a:p>
            <a:r>
              <a:rPr dirty="0"/>
              <a:t>The important lessons are to separate retrieval from generation, keep resource use bounded, respect framework thread boundaries, and verify answers against evidence.</a:t>
            </a:r>
          </a:p>
          <a:p>
            <a:endParaRPr dirty="0"/>
          </a:p>
          <a:p>
            <a:r>
              <a:rPr dirty="0"/>
              <a:t>This is an independent personal learning project, and I hope it gives you a clear starting point for your own GenAI journey.</a:t>
            </a:r>
          </a:p>
          <a:p>
            <a:endParaRPr dirty="0"/>
          </a:p>
          <a:p>
            <a:r>
              <a:rPr dirty="0"/>
              <a:t>Thank you for learning with me.</a:t>
            </a:r>
          </a:p>
          <a:p>
            <a:endParaRPr dirty="0"/>
          </a:p>
          <a:p>
            <a:r>
              <a:rPr dirty="0"/>
              <a:t>I am Alok Singh.</a:t>
            </a:r>
          </a:p>
          <a:p>
            <a:endParaRPr dirty="0"/>
          </a:p>
          <a:p>
            <a:r>
              <a:rPr dirty="0"/>
              <a:t>Use the appendix for the file map and learning resources, and build one small, well-tested use case before expanding.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26: Appendix A / important source files</a:t>
            </a:r>
          </a:p>
          <a:p>
            <a:r>
              <a:t>Optional appendix - outside the 30-minute video</a:t>
            </a:r>
          </a:p>
          <a:p>
            <a:r>
              <a:t>[Timing and this heading are not spoken. Read the script below aloud.]</a:t>
            </a:r>
          </a:p>
          <a:p>
            <a:endParaRPr/>
          </a:p>
          <a:p>
            <a:r>
              <a:t>WHAT I SAY</a:t>
            </a:r>
          </a:p>
          <a:p>
            <a:endParaRPr/>
          </a:p>
          <a:p>
            <a:r>
              <a:t>This appendix is a quick reference to the main source files.</a:t>
            </a:r>
          </a:p>
          <a:p>
            <a:endParaRPr/>
          </a:p>
          <a:p>
            <a:r>
              <a:t>The video walkthrough is complete, so you can pause here while exploring the repository.</a:t>
            </a:r>
          </a:p>
          <a:p>
            <a:endParaRPr/>
          </a:p>
          <a:p>
            <a:r>
              <a:t>The entry point is app.py, which handles the workspace, user actions, cached status, and session state.</a:t>
            </a:r>
          </a:p>
          <a:p>
            <a:endParaRPr/>
          </a:p>
          <a:p>
            <a:r>
              <a:t>The PDF loader extracts text and preserves page numbers.</a:t>
            </a:r>
          </a:p>
          <a:p>
            <a:endParaRPr/>
          </a:p>
          <a:p>
            <a:r>
              <a:t>The chunker divides each page into manageable overlapping spans.</a:t>
            </a:r>
          </a:p>
          <a:p>
            <a:endParaRPr/>
          </a:p>
          <a:p>
            <a:r>
              <a:t>The pipeline coordinates fingerprinting, batching, embedding requests, and metadata.</a:t>
            </a:r>
          </a:p>
          <a:p>
            <a:endParaRPr/>
          </a:p>
          <a:p>
            <a:r>
              <a:t>Each module has a focused responsibility, which makes the code easier to understand and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27: Appendix B / models, storage, tests and config</a:t>
            </a:r>
          </a:p>
          <a:p>
            <a:r>
              <a:rPr dirty="0"/>
              <a:t>Optional appendix - outside the 30-minute video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Here are the remaining important files.</a:t>
            </a:r>
          </a:p>
          <a:p>
            <a:endParaRPr dirty="0"/>
          </a:p>
          <a:p>
            <a:r>
              <a:rPr dirty="0"/>
              <a:t>The embeddings package contains the embedding API calls and shared runtime limits.</a:t>
            </a:r>
          </a:p>
          <a:p>
            <a:endParaRPr dirty="0"/>
          </a:p>
          <a:p>
            <a:r>
              <a:rPr dirty="0"/>
              <a:t>The </a:t>
            </a:r>
            <a:r>
              <a:rPr dirty="0" err="1"/>
              <a:t>vectorstore</a:t>
            </a:r>
            <a:r>
              <a:rPr dirty="0"/>
              <a:t> module handles the Arrow schema, temporary staging, </a:t>
            </a:r>
            <a:r>
              <a:rPr dirty="0" err="1"/>
              <a:t>LanceDB</a:t>
            </a:r>
            <a:r>
              <a:rPr dirty="0"/>
              <a:t> publication, metadata, and search.</a:t>
            </a:r>
          </a:p>
          <a:p>
            <a:endParaRPr dirty="0"/>
          </a:p>
          <a:p>
            <a:r>
              <a:rPr dirty="0"/>
              <a:t>The answer generator constructs the grounded prompt and calls the selected Qwen3 model.</a:t>
            </a:r>
          </a:p>
          <a:p>
            <a:endParaRPr dirty="0"/>
          </a:p>
          <a:p>
            <a:r>
              <a:rPr dirty="0"/>
              <a:t>The test modules cover ingestion behavior and </a:t>
            </a:r>
            <a:r>
              <a:rPr dirty="0" err="1"/>
              <a:t>Streamlit</a:t>
            </a:r>
            <a:r>
              <a:rPr dirty="0"/>
              <a:t> interactions.</a:t>
            </a:r>
          </a:p>
          <a:p>
            <a:endParaRPr dirty="0"/>
          </a:p>
          <a:p>
            <a:r>
              <a:rPr dirty="0"/>
              <a:t>The </a:t>
            </a:r>
            <a:r>
              <a:rPr dirty="0" err="1"/>
              <a:t>Streamlit</a:t>
            </a:r>
            <a:r>
              <a:rPr dirty="0"/>
              <a:t> configuration controls the theme, upload limit, and file watching.</a:t>
            </a:r>
          </a:p>
          <a:p>
            <a:endParaRPr dirty="0"/>
          </a:p>
          <a:p>
            <a:r>
              <a:rPr dirty="0"/>
              <a:t>The requirements file defines the Python dependencies, and the README explains how to run and validate the project.</a:t>
            </a:r>
          </a:p>
          <a:p>
            <a:endParaRPr dirty="0"/>
          </a:p>
          <a:p>
            <a:r>
              <a:rPr dirty="0"/>
              <a:t>The utils module is a compatibility export, not another chunking implementation.</a:t>
            </a:r>
          </a:p>
          <a:p>
            <a:endParaRPr dirty="0"/>
          </a:p>
          <a:p>
            <a:r>
              <a:rPr dirty="0"/>
              <a:t>The generated </a:t>
            </a:r>
            <a:r>
              <a:rPr dirty="0" err="1"/>
              <a:t>LanceDB</a:t>
            </a:r>
            <a:r>
              <a:rPr dirty="0"/>
              <a:t> folder contains document text, metadata, and vectors, so it must be treated as document data.</a:t>
            </a:r>
          </a:p>
          <a:p>
            <a:endParaRPr dirty="0"/>
          </a:p>
          <a:p>
            <a:r>
              <a:rPr dirty="0"/>
              <a:t>The original upload is not copied to disk, but its extracted content still persists in the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28: Appendix C / trusted starting points</a:t>
            </a:r>
          </a:p>
          <a:p>
            <a:r>
              <a:rPr dirty="0"/>
              <a:t>Optional appendix - outside the 30-minute video</a:t>
            </a:r>
          </a:p>
          <a:p>
            <a:r>
              <a:rPr dirty="0"/>
              <a:t>[Timing and this heading are not spoken. Read the script below aloud.]</a:t>
            </a:r>
          </a:p>
          <a:p>
            <a:endParaRPr dirty="0"/>
          </a:p>
          <a:p>
            <a:r>
              <a:rPr dirty="0"/>
              <a:t>WHAT I SAY</a:t>
            </a:r>
          </a:p>
          <a:p>
            <a:endParaRPr dirty="0"/>
          </a:p>
          <a:p>
            <a:r>
              <a:rPr dirty="0"/>
              <a:t>These are the starting points I recommend for continuing your learning.</a:t>
            </a:r>
          </a:p>
          <a:p>
            <a:endParaRPr dirty="0"/>
          </a:p>
          <a:p>
            <a:r>
              <a:rPr dirty="0"/>
              <a:t>The project repository shows how these components are wired together in this implementation.</a:t>
            </a:r>
          </a:p>
          <a:p>
            <a:endParaRPr dirty="0"/>
          </a:p>
          <a:p>
            <a:r>
              <a:rPr dirty="0" err="1"/>
              <a:t>Streamlit</a:t>
            </a:r>
            <a:r>
              <a:rPr dirty="0"/>
              <a:t> documentation explains reruns, forms, and session state.</a:t>
            </a:r>
          </a:p>
          <a:p>
            <a:endParaRPr dirty="0"/>
          </a:p>
          <a:p>
            <a:r>
              <a:rPr dirty="0" err="1"/>
              <a:t>Ollama</a:t>
            </a:r>
            <a:r>
              <a:rPr dirty="0"/>
              <a:t> documentation explains model installation and the embedding and chat APIs.</a:t>
            </a:r>
          </a:p>
          <a:p>
            <a:endParaRPr dirty="0"/>
          </a:p>
          <a:p>
            <a:r>
              <a:rPr dirty="0"/>
              <a:t>The </a:t>
            </a:r>
            <a:r>
              <a:rPr dirty="0" err="1"/>
              <a:t>pypdf</a:t>
            </a:r>
            <a:r>
              <a:rPr dirty="0"/>
              <a:t> documentation helps explain extraction behavior and its limitations.</a:t>
            </a:r>
          </a:p>
          <a:p>
            <a:endParaRPr dirty="0"/>
          </a:p>
          <a:p>
            <a:r>
              <a:rPr dirty="0" err="1"/>
              <a:t>LanceDB</a:t>
            </a:r>
            <a:r>
              <a:rPr dirty="0"/>
              <a:t> documentation covers vector search, storage, and optional search indexes.</a:t>
            </a:r>
          </a:p>
          <a:p>
            <a:endParaRPr dirty="0"/>
          </a:p>
          <a:p>
            <a:r>
              <a:rPr dirty="0"/>
              <a:t>Apache Arrow documentation explains the streaming data format used for staging.</a:t>
            </a:r>
          </a:p>
          <a:p>
            <a:endParaRPr dirty="0"/>
          </a:p>
          <a:p>
            <a:r>
              <a:rPr dirty="0"/>
              <a:t>Official documentation can describe newer versions, so use the project's pinned environment when reproducing this walkthrough.</a:t>
            </a:r>
          </a:p>
          <a:p>
            <a:endParaRPr dirty="0"/>
          </a:p>
          <a:p>
            <a:r>
              <a:rPr dirty="0"/>
              <a:t>This is my independent personal learning project, and no company endorsement is implied.</a:t>
            </a:r>
          </a:p>
          <a:p>
            <a:endParaRPr dirty="0"/>
          </a:p>
          <a:p>
            <a:r>
              <a:rPr dirty="0"/>
              <a:t>Thank you again for learning with 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1600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Build a Local GenAI</a:t>
            </a:r>
          </a:p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Knowledge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Start here  / 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15184"/>
            <a:ext cx="987552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2563EB"/>
                </a:solidFill>
                <a:latin typeface="Calibri"/>
              </a:defRPr>
            </a:pPr>
            <a:r>
              <a:t>From a PDF to source-backed answers on your laptop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575304"/>
            <a:ext cx="10515600" cy="10241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4243D"/>
                </a:solidFill>
                <a:latin typeface="Calibri"/>
              </a:defRPr>
            </a:pPr>
            <a:r>
              <a:t>ALOK SINGH</a:t>
            </a:r>
          </a:p>
          <a:p>
            <a:pPr>
              <a:spcAft>
                <a:spcPts val="900"/>
              </a:spcAft>
              <a:defRPr sz="2200" b="0">
                <a:solidFill>
                  <a:srgbClr val="14243D"/>
                </a:solidFill>
                <a:latin typeface="Calibri"/>
              </a:defRPr>
            </a:pPr>
            <a:r>
              <a:t>Python  |  Streamlit  |  Ollama  |  LanceDB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19472"/>
            <a:ext cx="10972800" cy="75895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1056132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627A"/>
                </a:solidFill>
                <a:latin typeface="Calibri"/>
              </a:defRPr>
            </a:pPr>
            <a:r>
              <a:t>Independent personal learning project. Educational use only.</a:t>
            </a:r>
          </a:p>
          <a:p>
            <a:pPr>
              <a:spcAft>
                <a:spcPts val="900"/>
              </a:spcAft>
              <a:defRPr sz="1600" b="0">
                <a:solidFill>
                  <a:srgbClr val="52627A"/>
                </a:solidFill>
                <a:latin typeface="Calibri"/>
              </a:defRPr>
            </a:pPr>
            <a:r>
              <a:t>No company branding or endorsement. Use public or synthetic documents.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01 /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What you will be able to explain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01 / Foundations  / 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RAG and semantic search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Two different model roles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Why source context matters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Follow the Python modules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Run the local application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Trace a complete 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Check the cited passages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Recognize resource limits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Plan your next iteration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76672"/>
            <a:ext cx="111556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5440680"/>
            <a:ext cx="1083564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4243D"/>
                </a:solidFill>
                <a:latin typeface="Calibri"/>
              </a:defRPr>
            </a:pPr>
            <a:r>
              <a:t>30 minutes: foundations + code + a 3-minute demo + your learning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01 /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Start with a narrow, useful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01 / Foundations  / 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User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Find a requirement quickly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Summarize a long section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Identify recommendations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Input /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Input: one text-based PDF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Output: a concise answer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Evidence: retrieved passages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Success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Supported by the document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Relevant page references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Acceptable laptop resources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76672"/>
            <a:ext cx="111556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5440680"/>
            <a:ext cx="1083564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4243D"/>
                </a:solidFill>
                <a:latin typeface="Calibri"/>
              </a:defRPr>
            </a:pPr>
            <a:r>
              <a:t>Define the question and expected evidence before selecting models or frameworks.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01 /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RAG: retrieve first, generate second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01 / Foundations  / 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Retrieve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Convert the question to a vector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Search stored chunk vectors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Select a few relevant passages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Augment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Combine selected text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Add the user's question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State grounding instructions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Ask Qwen3 for an answer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Display the answer and sources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Let the user verify the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76672"/>
            <a:ext cx="111556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5440680"/>
            <a:ext cx="1083564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4243D"/>
                </a:solidFill>
                <a:latin typeface="Calibri"/>
              </a:defRPr>
            </a:pPr>
            <a:r>
              <a:t>RAG adds reference context at inference time. It does not train the model on your PDF.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02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The architecture has two separate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02 / Architecture  / 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10789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37E79"/>
                </a:solidFill>
                <a:latin typeface="Calibri"/>
              </a:defRPr>
            </a:pPr>
            <a:r>
              <a:t>INDEX ONCE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57984"/>
            <a:ext cx="1975104" cy="969264"/>
          </a:xfrm>
          <a:prstGeom prst="roundRect">
            <a:avLst/>
          </a:prstGeom>
          <a:solidFill>
            <a:srgbClr val="14243D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2249424"/>
            <a:ext cx="1719072" cy="8595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PDF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1176" y="2441448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2157984"/>
            <a:ext cx="1975104" cy="969264"/>
          </a:xfrm>
          <a:prstGeom prst="roundRect">
            <a:avLst/>
          </a:prstGeom>
          <a:solidFill>
            <a:srgbClr val="14243D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35224" y="2249424"/>
            <a:ext cx="1719072" cy="8595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Page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2441448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2157984"/>
            <a:ext cx="1975104" cy="969264"/>
          </a:xfrm>
          <a:prstGeom prst="roundRect">
            <a:avLst/>
          </a:prstGeom>
          <a:solidFill>
            <a:srgbClr val="14243D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93792" y="2249424"/>
            <a:ext cx="1719072" cy="8595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Text chunks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2441448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24344" y="2157984"/>
            <a:ext cx="1975104" cy="969264"/>
          </a:xfrm>
          <a:prstGeom prst="roundRect">
            <a:avLst/>
          </a:prstGeom>
          <a:solidFill>
            <a:srgbClr val="14243D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60" y="2249424"/>
            <a:ext cx="1719072" cy="8595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Ollama</a:t>
            </a:r>
          </a:p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441448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82912" y="2157984"/>
            <a:ext cx="1975104" cy="969264"/>
          </a:xfrm>
          <a:prstGeom prst="roundRect">
            <a:avLst/>
          </a:prstGeom>
          <a:solidFill>
            <a:srgbClr val="14243D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10928" y="2249424"/>
            <a:ext cx="1719072" cy="8595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Arrow staging</a:t>
            </a:r>
          </a:p>
          <a:p>
            <a:pPr>
              <a:spcAft>
                <a:spcPts val="9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then LanceDB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502151"/>
            <a:ext cx="10789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137E79"/>
                </a:solidFill>
                <a:latin typeface="Calibri"/>
              </a:defRPr>
            </a:pPr>
            <a:r>
              <a:t>ASK MANY TIMES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95344"/>
            <a:ext cx="1975104" cy="969264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" y="3986783"/>
            <a:ext cx="1719072" cy="8595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4243D"/>
                </a:solidFill>
                <a:latin typeface="Calibri"/>
              </a:defRPr>
            </a:pPr>
            <a:r>
              <a:t>User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51176" y="4178807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07208" y="3895344"/>
            <a:ext cx="1975104" cy="969264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35224" y="3986783"/>
            <a:ext cx="1719072" cy="8595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4243D"/>
                </a:solidFill>
                <a:latin typeface="Calibri"/>
              </a:defRPr>
            </a:pPr>
            <a:r>
              <a:t>Query vector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9744" y="4178807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65776" y="3895344"/>
            <a:ext cx="1975104" cy="969264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93792" y="3986783"/>
            <a:ext cx="1719072" cy="8595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4243D"/>
                </a:solidFill>
                <a:latin typeface="Calibri"/>
              </a:defRPr>
            </a:pPr>
            <a:r>
              <a:t>Top-k 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4178807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24344" y="3895344"/>
            <a:ext cx="1975104" cy="969264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52360" y="3986783"/>
            <a:ext cx="1719072" cy="8595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4243D"/>
                </a:solidFill>
                <a:latin typeface="Calibri"/>
              </a:defRPr>
            </a:pPr>
            <a:r>
              <a:t>Context +</a:t>
            </a:r>
          </a:p>
          <a:p>
            <a:pPr>
              <a:spcAft>
                <a:spcPts val="900"/>
              </a:spcAft>
              <a:defRPr sz="1800" b="1">
                <a:solidFill>
                  <a:srgbClr val="14243D"/>
                </a:solidFill>
                <a:latin typeface="Calibri"/>
              </a:defRPr>
            </a:pPr>
            <a:r>
              <a:t>Qwen3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178807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82912" y="3895344"/>
            <a:ext cx="1975104" cy="969264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10928" y="3986783"/>
            <a:ext cx="1719072" cy="8595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4243D"/>
                </a:solidFill>
                <a:latin typeface="Calibri"/>
              </a:defRPr>
            </a:pPr>
            <a:r>
              <a:t>Answer +</a:t>
            </a:r>
          </a:p>
          <a:p>
            <a:pPr>
              <a:spcAft>
                <a:spcPts val="900"/>
              </a:spcAft>
              <a:defRPr sz="1800" b="1">
                <a:solidFill>
                  <a:srgbClr val="14243D"/>
                </a:solidFill>
                <a:latin typeface="Calibri"/>
              </a:defRPr>
            </a:pPr>
            <a:r>
              <a:t>source passages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541264"/>
            <a:ext cx="10972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137E79"/>
                </a:solidFill>
                <a:latin typeface="Calibri"/>
              </a:defRPr>
            </a:pPr>
            <a:r>
              <a:t>Embedding model: nomic-embed-text    |    Answer model: Qwen3    |    UI: 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02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A small codebase with clear responsibilities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02 / Architecture  / 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961888"/>
            <a:ext cx="10972800" cy="246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27A"/>
                </a:solidFill>
                <a:latin typeface="Consolas"/>
              </a:defRPr>
            </a:pPr>
            <a:r>
              <a:t>Repository: app.py | ingestion\ | embeddings\ | vectorstore\ | llm\ | tests\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6537960" cy="3611880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1938528"/>
            <a:ext cx="6089904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9CB9FF"/>
                </a:solidFill>
                <a:latin typeface="Consolas"/>
              </a:defRPr>
            </a:pPr>
            <a:r>
              <a:t>REPOSITORY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487168"/>
            <a:ext cx="6089904" cy="2697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app.py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ingestion/  loader + chunker + pipeline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embeddings/  model calls + limits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vectorstore/  Arrow + LanceDB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llm/  grounded answer generation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tests/  ingestion + Streamlit tests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.streamlit/config.toml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1874519"/>
            <a:ext cx="4224528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Follow the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688336"/>
            <a:ext cx="4160520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UI owns user events.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Ingestion owns text preparation.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Storage owns persistence.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Model modules own API calls.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13832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37E79"/>
                </a:solidFill>
                <a:latin typeface="Calibri"/>
              </a:defRPr>
            </a:pPr>
            <a:r>
              <a:t>Appendix A and B list every important source and configuration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02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Run the project before changing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02 / Architecture  / 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961888"/>
            <a:ext cx="10972800" cy="246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27A"/>
                </a:solidFill>
                <a:latin typeface="Consolas"/>
              </a:defRPr>
            </a:pPr>
            <a:r>
              <a:t>requirements.txt | README.md | .streamlit\config.toml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6537960" cy="3611880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1938528"/>
            <a:ext cx="6089904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9CB9FF"/>
                </a:solidFill>
                <a:latin typeface="Consolas"/>
              </a:defRPr>
            </a:pPr>
            <a:r>
              <a:t>WINDOWS POWERSHELL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487168"/>
            <a:ext cx="6089904" cy="2697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python -m venv venv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.\venv\Scripts\Activate.ps1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python -m pip install -r requirements.txt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ollama pull nomic-embed-text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ollama pull qwen3:0.6b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streamlit run 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1874519"/>
            <a:ext cx="4224528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Before recording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688336"/>
            <a:ext cx="4160520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Ollama installed and running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Models downloaded in advance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Use a synthetic PDF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Select qwen3:0.6b if pulled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13832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37E79"/>
                </a:solidFill>
                <a:latin typeface="Calibri"/>
              </a:defRPr>
            </a:pPr>
            <a:r>
              <a:t>Model installation is separate from Python package installation.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03 / CODE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Frontend: a workspace, not an expensive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03 / Code walkthrough  / 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961888"/>
            <a:ext cx="10972800" cy="246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27A"/>
                </a:solidFill>
                <a:latin typeface="Consolas"/>
              </a:defRPr>
            </a:pPr>
            <a:r>
              <a:t>app.py: index_info(), st.session_state, question_form, Index PDF button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Document 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Explicit Index PDF action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Ready / Processing / Failed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Compact indexing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Question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Form-gated inference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Example prompts only prefill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Persistent answer and sources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Rerun discipline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30-second statistics cache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No full chunk list in session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No work on upload alone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76672"/>
            <a:ext cx="111556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5440680"/>
            <a:ext cx="1083564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4243D"/>
                </a:solidFill>
                <a:latin typeface="Calibri"/>
              </a:defRPr>
            </a:pPr>
            <a:r>
              <a:t>A polished frontend must control when expensive work runs, not just how it looks.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03 / CODE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PDF loader: extract pages, preserve provenance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03 / Code walkthrough  / 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961888"/>
            <a:ext cx="10972800" cy="246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27A"/>
                </a:solidFill>
                <a:latin typeface="Consolas"/>
              </a:defRPr>
            </a:pPr>
            <a:r>
              <a:t>ingestion\pdf_loader.py: iter_pdf_pages(), extract_pdf_text()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6537960" cy="3611880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1938528"/>
            <a:ext cx="6089904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9CB9FF"/>
                </a:solidFill>
                <a:latin typeface="Consolas"/>
              </a:defRPr>
            </a:pPr>
            <a:r>
              <a:t>PAGE EXTRACTION - SELECTED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487168"/>
            <a:ext cx="6089904" cy="2697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for page_number, page in enumerate(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reader.pages, start=1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):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text = page.extract_text() or ""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# validate limits; report progress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if text.strip():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    yield page_number,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1874519"/>
            <a:ext cx="4224528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Built-in workload guards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688336"/>
            <a:ext cx="4160520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25 MiB upload limit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300 pages maximum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2 million extracted characters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Encrypted PDFs rejected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13832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37E79"/>
                </a:solidFill>
                <a:latin typeface="Calibri"/>
              </a:defRPr>
            </a:pPr>
            <a:r>
              <a:t>Text extraction is not OCR. Page metadata is preserved for source verification.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03 / CODE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Chunker: split text without losing the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03 / Code walkthrough  / 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961888"/>
            <a:ext cx="10972800" cy="246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27A"/>
                </a:solidFill>
                <a:latin typeface="Consolas"/>
              </a:defRPr>
            </a:pPr>
            <a:r>
              <a:t>ingestion\chunker.py: CHUNK_SIZE, CHUNK_OVERLAP, iter_text_chunks()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Up to 1,000 characters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Not a token count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Page-local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Prefer paragraph / newline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Then sentence / space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Fall back to character limit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Continuity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200-character overlap target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Carry nearby context forward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No overlap across pages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76672"/>
            <a:ext cx="111556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5440680"/>
            <a:ext cx="1083564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4243D"/>
                </a:solidFill>
                <a:latin typeface="Calibri"/>
              </a:defRPr>
            </a:pPr>
            <a:r>
              <a:t>Illustration without word boundaries: [0..999], [800..1799], [1600..2599].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03 / CODE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Pipeline: coordinate work in bounded batches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03 / Code walkthrough  / 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961888"/>
            <a:ext cx="10972800" cy="246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27A"/>
                </a:solidFill>
                <a:latin typeface="Consolas"/>
              </a:defRPr>
            </a:pPr>
            <a:r>
              <a:t>ingestion\pipeline.py: document_fingerprint(), index_pdf(), MAX_CHUNKS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6537960" cy="3611880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1938528"/>
            <a:ext cx="6089904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9CB9FF"/>
                </a:solidFill>
                <a:latin typeface="Consolas"/>
              </a:defRPr>
            </a:pPr>
            <a:r>
              <a:t>BATCH LOOP - SELECTED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487168"/>
            <a:ext cx="6089904" cy="2697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batch.append((page, chunk))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if len(batch) == batch_size: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yield embed_batch(batch)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batch = []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endParaRPr/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if batch: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yield embed_batch(batch)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1874519"/>
            <a:ext cx="4224528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One orchestration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688336"/>
            <a:ext cx="4160520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Fingerprint avoids duplicate work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Attach source + page metadata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Validate chunk and batch limits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Keep only a small 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13832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37E79"/>
                </a:solidFill>
                <a:latin typeface="Calibri"/>
              </a:defRPr>
            </a:pPr>
            <a:r>
              <a:t>Same PDF + same pipeline identity = reuse the existing index.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03 / CODE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Embeddings: text becomes a semantic address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03 / Code walkthrough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961888"/>
            <a:ext cx="10972800" cy="246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27A"/>
                </a:solidFill>
                <a:latin typeface="Consolas"/>
              </a:defRPr>
            </a:pPr>
            <a:r>
              <a:t>embeddings\embedding_model.py | embeddings\runtime.py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6537960" cy="3611880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1938528"/>
            <a:ext cx="6089904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9CB9FF"/>
                </a:solidFill>
                <a:latin typeface="Consolas"/>
              </a:defRPr>
            </a:pPr>
            <a:r>
              <a:t>OLLAMA EMBEDDING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487168"/>
            <a:ext cx="6089904" cy="2697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response = ollama.embed(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model=EMBEDDING_MODEL,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input=batch,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truncate=False,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options={"num_thread": num_threads},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keep_alive="1m",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1874519"/>
            <a:ext cx="4224528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Two inputs, same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688336"/>
            <a:ext cx="4160520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Document text -&gt; stored vectors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Question text -&gt; query vector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Comparable embedding space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No answer generation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13832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37E79"/>
                </a:solidFill>
                <a:latin typeface="Calibri"/>
              </a:defRPr>
            </a:pPr>
            <a:r>
              <a:t>Use the same embedding model for indexing and queries; rebuild when it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03 / CODE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Indexing: stage first, publish after success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03 / Code walkthrough  / 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961888"/>
            <a:ext cx="10972800" cy="246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27A"/>
                </a:solidFill>
                <a:latin typeface="Consolas"/>
              </a:defRPr>
            </a:pPr>
            <a:r>
              <a:t>vectorstore\lancedb_manager.py: store_record_batches()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6537960" cy="3611880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1938528"/>
            <a:ext cx="6089904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9CB9FF"/>
                </a:solidFill>
                <a:latin typeface="Consolas"/>
              </a:defRPr>
            </a:pPr>
            <a:r>
              <a:t>PUBLICATION - SELECTED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487168"/>
            <a:ext cx="6089904" cy="2697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with TemporaryFile() as staged: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# write all validated Arrow batches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staged.seek(0)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with pa.ipc.open_stream(staged) as reader: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    get_db().create_table(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        TABLE_NAME, data=reader,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        schema=schema, mode="overwrite",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   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1874519"/>
            <a:ext cx="4224528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One current knowledge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688336"/>
            <a:ext cx="4160520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Persistent text + metadata + vectors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Old index survives processing errors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Temporary staging is cleaned up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No separate ANN index configured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13832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37E79"/>
                </a:solidFill>
                <a:latin typeface="Calibri"/>
              </a:defRPr>
            </a:pPr>
            <a:r>
              <a:t>Indexing here means preparing and storing vectors; it is not model training.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03 / CODE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Retrieval: find passages, not final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03 / Code walkthrough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961888"/>
            <a:ext cx="10972800" cy="246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27A"/>
                </a:solidFill>
                <a:latin typeface="Consolas"/>
              </a:defRPr>
            </a:pPr>
            <a:r>
              <a:t>vectorstore\lancedb_manager.py: search_embeddings() | app.py: submitted question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6537960" cy="3611880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1938528"/>
            <a:ext cx="6089904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9CB9FF"/>
                </a:solidFill>
                <a:latin typeface="Consolas"/>
              </a:defRPr>
            </a:pPr>
            <a:r>
              <a:t>SEARCH - SELECTED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487168"/>
            <a:ext cx="6089904" cy="2697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results = (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table.search(query_embedding)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.select(columns)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.limit(top_k)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.to_pandas()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1874519"/>
            <a:ext cx="4224528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Top-k is a trade-off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688336"/>
            <a:ext cx="4160520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Small k: faster, less context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Large k: more coverage, more noise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UI default: 3 source chunks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Distance is not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13832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37E79"/>
                </a:solidFill>
                <a:latin typeface="Calibri"/>
              </a:defRPr>
            </a:pPr>
            <a:r>
              <a:t>Check retrieval relevance before debugging answer wording.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03 / CODE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Answer LLM: write from the retrieved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03 / Code walkthrough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961888"/>
            <a:ext cx="10972800" cy="246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27A"/>
                </a:solidFill>
                <a:latin typeface="Consolas"/>
              </a:defRPr>
            </a:pPr>
            <a:r>
              <a:t>llm\answer_generator.py: generate_answer()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6537960" cy="3611880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1938528"/>
            <a:ext cx="6089904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9CB9FF"/>
                </a:solidFill>
                <a:latin typeface="Consolas"/>
              </a:defRPr>
            </a:pPr>
            <a:r>
              <a:t>ANSWER REQUEST - SELECTED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487168"/>
            <a:ext cx="6089904" cy="2697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response = ollama.chat(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model=model, messages=[...],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think=False,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options={"num_thread": num_threads,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         "num_ctx": 4096,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         "num_predict": 512},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keep_alive=0,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1874519"/>
            <a:ext cx="4224528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Prompt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688336"/>
            <a:ext cx="4160520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Use only supplied context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Decline when evidence is absent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Return a concise answer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Show retrieved sources separately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13832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37E79"/>
                </a:solidFill>
                <a:latin typeface="Calibri"/>
              </a:defRPr>
            </a:pPr>
            <a:r>
              <a:t>Grounding instructions reduce risk; they do not guarantee factual answers.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03 / CODE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Trace one question from input to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03 / Code walkthrough  /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Document 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Synthetic example: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New starters complete security training within 14 days.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Metadata: page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When should a new starter finish training?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endParaRPr/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Query vector -&gt; top-k passages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Expected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Within 14 days of starting.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endParaRPr/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Verify the retrieved page.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Do not infer missing policies.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76672"/>
            <a:ext cx="111556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5440680"/>
            <a:ext cx="1083564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4243D"/>
                </a:solidFill>
                <a:latin typeface="Calibri"/>
              </a:defRPr>
            </a:pPr>
            <a:r>
              <a:t>Illustration only. Show real model output during the demo, not a prewritten claim.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04 /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Live demo: a three-minute proof of the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04 / Demonstration  / 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00:00 - 01:05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Show the PDF ground truth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Upload without processing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Index with small resource limits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01:05 - 02:05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Ask one factual question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Inspect the matching page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Copy / download the answer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02:05 - 03:00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Repeat indexing: reuse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Ask an absent-information question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Discuss actual observed behavior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76672"/>
            <a:ext cx="111556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5440680"/>
            <a:ext cx="1083564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4243D"/>
                </a:solidFill>
                <a:latin typeface="Calibri"/>
              </a:defRPr>
            </a:pPr>
            <a:r>
              <a:t>Pre-download models. Use a tiny synthetic PDF. Be transparent about edited waiting time.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05 / ENGINEERING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Laptop performance is a system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05 / Engineering lessons  / 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961888"/>
            <a:ext cx="10972800" cy="246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27A"/>
                </a:solidFill>
                <a:latin typeface="Consolas"/>
              </a:defRPr>
            </a:pPr>
            <a:r>
              <a:t>embeddings\runtime.py | .streamlit\config.toml | README.md: laptop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Page-local processing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Small embedding batches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No duplicate indexing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No file watching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Model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Default: at most 2 CPU threads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Small Qwen3 options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Unload after query / answer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Index model warm for 1 minute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Measure honestly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Latency by pipeline stage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Streamlit vs Ollama memory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Cold vs warm model load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PDF complexity and quality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76672"/>
            <a:ext cx="111556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5440680"/>
            <a:ext cx="1083564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4243D"/>
                </a:solidFill>
                <a:latin typeface="Calibri"/>
              </a:defRPr>
            </a:pPr>
            <a:r>
              <a:t>Bounded Python batches do not impose a hard total-RAM limit on Ollama or PDF parsing.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05 / ENGINEERING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A real bug: database workers cannot update the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05 / Engineering lessons  / 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961888"/>
            <a:ext cx="10972800" cy="246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27A"/>
                </a:solidFill>
                <a:latin typeface="Consolas"/>
              </a:defRPr>
            </a:pPr>
            <a:r>
              <a:t>vectorstore\lancedb_manager.py | tests\test_ingestion.py | tests\test_app.py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Symptom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Arrow wrapper exception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NoSessionContext inside progress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Single-batch checks missed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Root 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LanceDB consumed the generator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on its worker thread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UI callback had no session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Correct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Prepare on script thread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Stage temporary Arrow data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Let workers read only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76672"/>
            <a:ext cx="111556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5440680"/>
            <a:ext cx="1083564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4243D"/>
                </a:solidFill>
                <a:latin typeface="Calibri"/>
              </a:defRPr>
            </a:pPr>
            <a:r>
              <a:t>Reproduce the failing boundary, fix the producer, and add a multi-batch regression test.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05 / ENGINEERING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Tests protect behavior, not just syntax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05 / Engineering lessons  /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5961888"/>
            <a:ext cx="10972800" cy="246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52627A"/>
                </a:solidFill>
                <a:latin typeface="Consolas"/>
              </a:defRPr>
            </a:pPr>
            <a:r>
              <a:t>tests\test_ingestion.py | tests\test_app.py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6537960" cy="3611880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1938528"/>
            <a:ext cx="6089904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9CB9FF"/>
                </a:solidFill>
                <a:latin typeface="Consolas"/>
              </a:defRPr>
            </a:pPr>
            <a:r>
              <a:t>RUN REGRESSION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487168"/>
            <a:ext cx="6089904" cy="2697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.\venv\Scripts\python.exe -m unittest `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  discover -s tests -v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endParaRPr/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# PowerShell continuation: backtick (`)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# Current suite: 32 tests.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1874519"/>
            <a:ext cx="4224528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Then evaluate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688336"/>
            <a:ext cx="4160520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Known fact + expected page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Absent information -&gt; decline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Cross-chunk / ambiguous question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Compare model and chunk 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13832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37E79"/>
                </a:solidFill>
                <a:latin typeface="Calibri"/>
              </a:defRPr>
            </a:pPr>
            <a:r>
              <a:t>Unit tests verify mechanics. Grounded-QA evaluation verifies useful behavior.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05 / ENGINEERING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Know the limits before sharing a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05 / Engineering lessons  / 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Functional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One PDF index at a time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No built-in OCR / reranker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No relevance threshold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Page-local chunk boundaries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Trust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Hallucinations remain possible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Prompt injection not solved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Sources are not verified citations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Tables can extract poorly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Deployment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No login or user isolation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Local index contains text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Not production-certified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Use safe learning documents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76672"/>
            <a:ext cx="111556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5440680"/>
            <a:ext cx="1083564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4243D"/>
                </a:solidFill>
                <a:latin typeface="Calibri"/>
              </a:defRPr>
            </a:pPr>
            <a:r>
              <a:t>Keep the learning demo local. Production readiness requires additional engineering and review.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06 / LEARNING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From prototype to production: a staged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06 / Learning journey  / 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1 /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Grounded-QA evaluation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Token-aware context budget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Hybrid retrieval / reranking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Document-aware parsing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2 /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Stage-level metrics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Timeouts and job lifecycle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Model-version tracking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Index maintenance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3 /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Authentication and isolation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Retrieval access controls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Retention / deletion policy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Security review and monitoring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76672"/>
            <a:ext cx="111556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5440680"/>
            <a:ext cx="1083564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4243D"/>
                </a:solidFill>
                <a:latin typeface="Calibri"/>
              </a:defRPr>
            </a:pPr>
            <a:r>
              <a:t>Roadmap only: these capabilities are not claimed as implemented.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06 / LEARNING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A fresher's four-week learning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06 / Learning journey  / 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2606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76272"/>
            <a:ext cx="22402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2563EB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2240280" cy="17556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Python + APIs</a:t>
            </a:r>
          </a:p>
          <a:p>
            <a:pPr>
              <a:spcAft>
                <a:spcPts val="9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Extract one 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1920240"/>
            <a:ext cx="2606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9584" y="2176272"/>
            <a:ext cx="22402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2563EB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907792"/>
            <a:ext cx="2240280" cy="17556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Chunks + vectors</a:t>
            </a:r>
          </a:p>
          <a:p>
            <a:pPr>
              <a:spcAft>
                <a:spcPts val="9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Retrieve 5 known facts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920240"/>
            <a:ext cx="2606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2176272"/>
            <a:ext cx="22402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2563EB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907792"/>
            <a:ext cx="2240280" cy="17556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Prompt + Streamlit</a:t>
            </a:r>
          </a:p>
          <a:p>
            <a:pPr>
              <a:spcAft>
                <a:spcPts val="9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Answer with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4272" y="1920240"/>
            <a:ext cx="26060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17152" y="2176272"/>
            <a:ext cx="22402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2563EB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907792"/>
            <a:ext cx="2240280" cy="17556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Tests + measurements</a:t>
            </a:r>
          </a:p>
          <a:p>
            <a:pPr>
              <a:spcAft>
                <a:spcPts val="9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Record your walkthrough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68112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137E79"/>
                </a:solidFill>
                <a:latin typeface="Calibri"/>
              </a:defRPr>
            </a:pPr>
            <a:r>
              <a:t>Milestones, not prerequisites for perfection: build -&gt; inspect -&gt; test -&gt; explain.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06 / LEARNING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Make it your project, not just a tutorial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06 / Learning journey  /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Choose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One safe document domain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Five evidence-backed questions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A clear success criterion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Change one variable at a time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Measure quality and latency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Record regressions honestly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73936"/>
            <a:ext cx="3566160" cy="3364992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975104"/>
            <a:ext cx="3163824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Showcase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06624"/>
            <a:ext cx="3163824" cy="22311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Explain an architecture decision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Show a test and a failure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Share reproducible setup steps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76672"/>
            <a:ext cx="111556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5440680"/>
            <a:ext cx="1083564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4243D"/>
                </a:solidFill>
                <a:latin typeface="Calibri"/>
              </a:defRPr>
            </a:pPr>
            <a:r>
              <a:t>Your differentiator is engineering judgment: evidence, reliability, and clear explanation.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Build small. Ground answers. Learn deliberately.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Wrap-up  / 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84248"/>
            <a:ext cx="10789920" cy="1463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2563EB"/>
                </a:solidFill>
                <a:latin typeface="Calibri"/>
              </a:defRPr>
            </a:pPr>
            <a:r>
              <a:t>PDF -&gt; chunks -&gt; embeddings -&gt; retrieval -&gt; grounded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0607040" cy="1005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14243D"/>
                </a:solidFill>
                <a:latin typeface="Calibri"/>
              </a:defRPr>
            </a:pPr>
            <a:r>
              <a:t>Understand every boundary.</a:t>
            </a:r>
          </a:p>
          <a:p>
            <a:pPr>
              <a:spcAft>
                <a:spcPts val="900"/>
              </a:spcAft>
              <a:defRPr sz="2500" b="0">
                <a:solidFill>
                  <a:srgbClr val="14243D"/>
                </a:solidFill>
                <a:latin typeface="Calibri"/>
              </a:defRPr>
            </a:pPr>
            <a:r>
              <a:t>Verify the evidence. Share what you learned.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21808"/>
            <a:ext cx="106070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37E79"/>
                </a:solidFill>
                <a:latin typeface="Calibri"/>
              </a:defRPr>
            </a:pPr>
            <a:r>
              <a:t>ALOK SINGH  |  Thank you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FILE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Appendix A / important source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APPENDIX  / 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537960" cy="3611880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1938528"/>
            <a:ext cx="6089904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9CB9FF"/>
                </a:solidFill>
                <a:latin typeface="Consolas"/>
              </a:defRPr>
            </a:pPr>
            <a:r>
              <a:t>ENTRY POINT +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487168"/>
            <a:ext cx="6089904" cy="2697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app.py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UI, session state, forms, cache, actions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endParaRPr/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ingestion/pdf_loader.py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iter_pdf_pages(), extract_pdf_text()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ingestion/chunker.py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iter_text_chunks(), split_text()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ingestion/pipeline.py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  document_fingerprint(), index_pdf()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874519"/>
            <a:ext cx="4224528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Inputs and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688336"/>
            <a:ext cx="4160520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Upload -&gt; PDF stream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Loader -&gt; (page, text)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Chunker -&gt; text spans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Pipeline -&gt; typed record batches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UI -&gt; summary + answer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513832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37E79"/>
                </a:solidFill>
                <a:latin typeface="Calibri"/>
              </a:defRPr>
            </a:pPr>
            <a:r>
              <a:t>app.py orchestrates events; pipeline.py orchestrates ingestion.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FILE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Appendix B / models, storage, tests and config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APPENDIX  /  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6537960" cy="3611880"/>
          </a:xfrm>
          <a:prstGeom prst="round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1938528"/>
            <a:ext cx="6089904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9CB9FF"/>
                </a:solidFill>
                <a:latin typeface="Consolas"/>
              </a:defRPr>
            </a:pPr>
            <a:r>
              <a:t>REMAINING FILE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487168"/>
            <a:ext cx="6089904" cy="2697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embeddings/embedding_model.py + runtime.py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vectorstore/lancedb_manager.py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llm/answer_generator.py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tests/test_ingestion.py + test_app.py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.streamlit/config.toml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requirements.txt + README.md + .gitignore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utils.py + package __init__.py files</a:t>
            </a:r>
          </a:p>
          <a:p>
            <a:pPr>
              <a:spcAft>
                <a:spcPts val="400"/>
              </a:spcAft>
              <a:defRPr sz="1700" b="0">
                <a:solidFill>
                  <a:srgbClr val="F2F6FF"/>
                </a:solidFill>
                <a:latin typeface="Consolas"/>
              </a:defRPr>
            </a:pPr>
            <a:r>
              <a:t>vectorstore/lancedb/  [generated data]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874519"/>
            <a:ext cx="4224528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What persists?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2688336"/>
            <a:ext cx="4160520" cy="2542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LanceDB: text, vectors, metadata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Temporary Arrow: staging only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Session: summary + last answer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Original upload: no disk copy</a:t>
            </a:r>
          </a:p>
          <a:p>
            <a:pPr>
              <a:spcAft>
                <a:spcPts val="9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README: setup and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513832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37E79"/>
                </a:solidFill>
                <a:latin typeface="Calibri"/>
              </a:defRPr>
            </a:pPr>
            <a:r>
              <a:t>Protect the index: extracted document text persists even when the original PDF is not saved.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LEARNING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4243D"/>
                </a:solidFill>
                <a:latin typeface="Calibri"/>
              </a:defRPr>
            </a:pPr>
            <a:r>
              <a:t>Appendix C / trusted starting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0972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955279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GenAI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73952"/>
            <a:ext cx="2423160" cy="210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2627A"/>
                </a:solidFill>
                <a:latin typeface="Calibri"/>
              </a:defRPr>
            </a:pPr>
            <a:r>
              <a:t>APPENDIX  / 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972800" cy="4023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4243D"/>
                </a:solidFill>
                <a:latin typeface="Calibri"/>
              </a:defRPr>
            </a:pPr>
            <a:r>
              <a:t>Project source: github.com/aloknet21/enterprise-knowledge-assistant</a:t>
            </a:r>
          </a:p>
          <a:p>
            <a:pPr>
              <a:spcAft>
                <a:spcPts val="900"/>
              </a:spcAft>
              <a:defRPr sz="2200" b="0">
                <a:solidFill>
                  <a:srgbClr val="14243D"/>
                </a:solidFill>
                <a:latin typeface="Calibri"/>
              </a:defRPr>
            </a:pPr>
            <a:r>
              <a:t>Streamlit: docs.streamlit.io</a:t>
            </a:r>
          </a:p>
          <a:p>
            <a:pPr>
              <a:spcAft>
                <a:spcPts val="900"/>
              </a:spcAft>
              <a:defRPr sz="2200" b="0">
                <a:solidFill>
                  <a:srgbClr val="14243D"/>
                </a:solidFill>
                <a:latin typeface="Calibri"/>
              </a:defRPr>
            </a:pPr>
            <a:r>
              <a:t>Ollama APIs and models: docs.ollama.com  |  ollama.com/library</a:t>
            </a:r>
          </a:p>
          <a:p>
            <a:pPr>
              <a:spcAft>
                <a:spcPts val="900"/>
              </a:spcAft>
              <a:defRPr sz="2200" b="0">
                <a:solidFill>
                  <a:srgbClr val="14243D"/>
                </a:solidFill>
                <a:latin typeface="Calibri"/>
              </a:defRPr>
            </a:pPr>
            <a:r>
              <a:t>PDF extraction: pypdf.readthedocs.io</a:t>
            </a:r>
          </a:p>
          <a:p>
            <a:pPr>
              <a:spcAft>
                <a:spcPts val="900"/>
              </a:spcAft>
              <a:defRPr sz="2200" b="0">
                <a:solidFill>
                  <a:srgbClr val="14243D"/>
                </a:solidFill>
                <a:latin typeface="Calibri"/>
              </a:defRPr>
            </a:pPr>
            <a:r>
              <a:t>Vector storage and search: lancedb.com/docs</a:t>
            </a:r>
          </a:p>
          <a:p>
            <a:pPr>
              <a:spcAft>
                <a:spcPts val="900"/>
              </a:spcAft>
              <a:defRPr sz="2200" b="0">
                <a:solidFill>
                  <a:srgbClr val="14243D"/>
                </a:solidFill>
                <a:latin typeface="Calibri"/>
              </a:defRPr>
            </a:pPr>
            <a:r>
              <a:t>Arrow streaming: arrow.apache.org/docs/python/ipc.html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559552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37E79"/>
                </a:solidFill>
                <a:latin typeface="Calibri"/>
              </a:defRPr>
            </a:pPr>
            <a:r>
              <a:t>Use the pinned project environment. Official documentation may describe newer versions.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9062</Words>
  <Application>Microsoft Office PowerPoint</Application>
  <PresentationFormat>Widescreen</PresentationFormat>
  <Paragraphs>1309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a Local GenAI Knowledge Assistant</dc:title>
  <dc:subject>30-minute beginner-to-intermediate RAG project walkthrough</dc:subject>
  <dc:creator>ALOK SINGH</dc:creator>
  <cp:keywords>GenAI, RAG, Streamlit, Ollama, LanceDB, Python, learning</cp:keywords>
  <dc:description>generated using python-pptx</dc:description>
  <cp:lastModifiedBy>Singh, Alok Ranjan</cp:lastModifiedBy>
  <cp:revision>2</cp:revision>
  <dcterms:created xsi:type="dcterms:W3CDTF">2013-01-27T09:14:16Z</dcterms:created>
  <dcterms:modified xsi:type="dcterms:W3CDTF">2026-10-24T06:54:54Z</dcterms:modified>
  <cp:category/>
</cp:coreProperties>
</file>