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01 - Your first GenAI app: see it work</a:t>
            </a:r>
          </a:p>
          <a:p>
            <a:r>
              <a:t>RECORDING WINDOW: 00:00 - 02:00 (2 minutes)</a:t>
            </a:r>
          </a:p>
          <a:p>
            <a:r>
              <a:t>Timing includes the live demonstration or code navigation, not continuous narration.</a:t>
            </a:r>
          </a:p>
          <a:p>
            <a:r>
              <a:t>Read WHAT I SAY aloud. SCREEN CUES are instructions, not spoken text.</a:t>
            </a:r>
          </a:p>
          <a:p/>
          <a:p>
            <a:r>
              <a:t>WHAT I SAY</a:t>
            </a:r>
          </a:p>
          <a:p/>
          <a:p>
            <a:r>
              <a:t>Hello everyone, I am Alok Singh.</a:t>
            </a:r>
          </a:p>
          <a:p/>
          <a:p>
            <a:r>
              <a:t>I built this Knowledge Assistant as a personal project to learn how a useful GenAI application works from beginning to end.</a:t>
            </a:r>
          </a:p>
          <a:p/>
          <a:p>
            <a:r>
              <a:t>Today, I will show you the application first, help you understand how to run it on a laptop, and then explain the code behind the experience.</a:t>
            </a:r>
          </a:p>
          <a:p/>
          <a:p>
            <a:r>
              <a:t>You do not need to be a machine-learning researcher to follow this session.</a:t>
            </a:r>
          </a:p>
          <a:p/>
          <a:p>
            <a:r>
              <a:t>The use case is simple: I upload a PDF, ask a question about its content, and inspect the supporting passage.</a:t>
            </a:r>
          </a:p>
          <a:p/>
          <a:p>
            <a:r>
              <a:t>For example, imagine a short training guide with a requirement that is difficult to find quickly.</a:t>
            </a:r>
          </a:p>
          <a:p/>
          <a:p>
            <a:r>
              <a:t>Instead of searching every page manually, I can ask the assistant a focused question.</a:t>
            </a:r>
          </a:p>
          <a:p/>
          <a:p>
            <a:r>
              <a:t>The important part is not just receiving a fluent answer.</a:t>
            </a:r>
          </a:p>
          <a:p/>
          <a:p>
            <a:r>
              <a:t>It is being able to compare that answer with the original text.</a:t>
            </a:r>
          </a:p>
          <a:p/>
          <a:p>
            <a:r>
              <a:t>On the left of the application, you will see the document workspace.</a:t>
            </a:r>
          </a:p>
          <a:p/>
          <a:p>
            <a:r>
              <a:t>On the right, you will see the question box, the generated answer, and expandable sources.</a:t>
            </a:r>
          </a:p>
          <a:p/>
          <a:p>
            <a:r>
              <a:t>I will briefly point out these areas in the live application before we discuss setup.</a:t>
            </a:r>
          </a:p>
          <a:p/>
          <a:p>
            <a:r>
              <a:t>This is an independent personal learning project, not an official company product or endorsement.</a:t>
            </a:r>
          </a:p>
          <a:p/>
          <a:p>
            <a:r>
              <a:t>It is also not a production-certified application.</a:t>
            </a:r>
          </a:p>
          <a:p/>
          <a:p>
            <a:r>
              <a:t>I will use only a synthetic document, and I recommend that you use public or synthetic material while learning.</a:t>
            </a:r>
          </a:p>
          <a:p/>
          <a:p>
            <a:r>
              <a:t>Please do not upload confidential employer, customer, or personal information to follow this demonstration.</a:t>
            </a:r>
          </a:p>
          <a:p/>
          <a:p>
            <a:r>
              <a:t>By the end, you should understand the user experience, the main code responsibilities, and what would need to change for enterprise use.</a:t>
            </a:r>
          </a:p>
          <a:p/>
          <a:p>
            <a:r>
              <a:t>SCREEN CUES - DO NOT READ ALOUD</a:t>
            </a:r>
          </a:p>
          <a:p>
            <a:r>
              <a:t>Open the running application and point to the document panel, question form, and sources area.</a:t>
            </a:r>
          </a:p>
          <a:p>
            <a:r>
              <a:t>Use this slide as the introduction; do not start a long explanation of model internals yet.</a:t>
            </a:r>
          </a:p>
          <a:p>
            <a:r>
              <a:t>The diagram on the slide is an illustrative workflow, not a captured application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02 - Set up once. Start locally whenever you learn.</a:t>
            </a:r>
          </a:p>
          <a:p>
            <a:r>
              <a:t>RECORDING WINDOW: 02:00 - 05:00 (3 minutes)</a:t>
            </a:r>
          </a:p>
          <a:p>
            <a:r>
              <a:t>Timing includes the live demonstration or code navigation, not continuous narration.</a:t>
            </a:r>
          </a:p>
          <a:p>
            <a:r>
              <a:t>Read WHAT I SAY aloud. SCREEN CUES are instructions, not spoken text.</a:t>
            </a:r>
          </a:p>
          <a:p/>
          <a:p>
            <a:r>
              <a:t>WHAT I SAY</a:t>
            </a:r>
          </a:p>
          <a:p/>
          <a:p>
            <a:r>
              <a:t>Let us make the setup manageable.</a:t>
            </a:r>
          </a:p>
          <a:p/>
          <a:p>
            <a:r>
              <a:t>There are two separate things to prepare: the Python application and the local model runtime.</a:t>
            </a:r>
          </a:p>
          <a:p/>
          <a:p>
            <a:r>
              <a:t>For the Python side, I use Python 3.12 and a virtual environment.</a:t>
            </a:r>
          </a:p>
          <a:p/>
          <a:p>
            <a:r>
              <a:t>The virtual environment keeps this project's packages separate from other Python projects.</a:t>
            </a:r>
          </a:p>
          <a:p/>
          <a:p>
            <a:r>
              <a:t>If you do not have the source yet, clone the repository shown on this slide or download its ZIP from GitHub.</a:t>
            </a:r>
          </a:p>
          <a:p/>
          <a:p>
            <a:r>
              <a:t>After opening the repository folder in VS Code, create the environment, activate it, and install requirements.txt.</a:t>
            </a:r>
          </a:p>
          <a:p/>
          <a:p>
            <a:r>
              <a:t>That file contains the libraries used by the application, including Streamlit, the PDF reader, and LanceDB.</a:t>
            </a:r>
          </a:p>
          <a:p/>
          <a:p>
            <a:r>
              <a:t>For the model side, install Ollama separately using its official installer.</a:t>
            </a:r>
          </a:p>
          <a:p/>
          <a:p>
            <a:r>
              <a:t>Ollama runs the embedding model and the answer model as a local service.</a:t>
            </a:r>
          </a:p>
          <a:p/>
          <a:p>
            <a:r>
              <a:t>We need nomic-embed-text to prepare searchable representations of the PDF and the question.</a:t>
            </a:r>
          </a:p>
          <a:p/>
          <a:p>
            <a:r>
              <a:t>For this learning demonstration, I recommend starting with qwen3:0.6b rather than a larger answer model.</a:t>
            </a:r>
          </a:p>
          <a:p/>
          <a:p>
            <a:r>
              <a:t>Downloading model weights requires an internet connection and disk space, but it is a one-time setup step for each chosen model.</a:t>
            </a:r>
          </a:p>
          <a:p/>
          <a:p>
            <a:r>
              <a:t>The application does not download missing models automatically.</a:t>
            </a:r>
          </a:p>
          <a:p/>
          <a:p>
            <a:r>
              <a:t>Once the models are installed, make sure Ollama is running.</a:t>
            </a:r>
          </a:p>
          <a:p/>
          <a:p>
            <a:r>
              <a:t>If its desktop application is already running, do not start another conflicting server.</a:t>
            </a:r>
          </a:p>
          <a:p/>
          <a:p>
            <a:r>
              <a:t>Then run Streamlit from the repository folder using the command on this slide.</a:t>
            </a:r>
          </a:p>
          <a:p/>
          <a:p>
            <a:r>
              <a:t>Streamlit prints the local URL, usually localhost on port 8501.</a:t>
            </a:r>
          </a:p>
          <a:p/>
          <a:p>
            <a:r>
              <a:t>Use the URL actually printed in your terminal if a different port is selected.</a:t>
            </a:r>
          </a:p>
          <a:p/>
          <a:p>
            <a:r>
              <a:t>An important detail is that the application's answer-model default is qwen3.</a:t>
            </a:r>
          </a:p>
          <a:p/>
          <a:p>
            <a:r>
              <a:t>Because we downloaded qwen3:0.6b for this example, select that exact model in Advanced settings.</a:t>
            </a:r>
          </a:p>
          <a:p/>
          <a:p>
            <a:r>
              <a:t>For everyday use, we do not recreate the environment or download the models again.</a:t>
            </a:r>
          </a:p>
          <a:p/>
          <a:p>
            <a:r>
              <a:t>We activate the existing environment, ensure Ollama is running, and start Streamlit.</a:t>
            </a:r>
          </a:p>
          <a:p/>
          <a:p>
            <a:r>
              <a:t>I will point to the commands in the terminal rather than spend recording time waiting for a package or model download.</a:t>
            </a:r>
          </a:p>
          <a:p/>
          <a:p>
            <a:r>
              <a:t>If setup fails, first identify whether the problem is a Python package, the Ollama service, or a missing model.</a:t>
            </a:r>
          </a:p>
          <a:p/>
          <a:p>
            <a:r>
              <a:t>Keeping these responsibilities separate makes troubleshooting much easier.</a:t>
            </a:r>
          </a:p>
          <a:p/>
          <a:p>
            <a:r>
              <a:t>SCREEN CUES - DO NOT READ ALOUD</a:t>
            </a:r>
          </a:p>
          <a:p>
            <a:r>
              <a:t>Before recording: install Python 3.12, Git if cloning, and Ollama; download both models.</a:t>
            </a:r>
          </a:p>
          <a:p>
            <a:r>
              <a:t>Demonstrate activation and startup live. Explain one-time downloads without repeating them.</a:t>
            </a:r>
          </a:p>
          <a:p>
            <a:r>
              <a:t>Repository: https://github.com/aloknet21/enterprise-knowledge-assistant</a:t>
            </a:r>
          </a:p>
          <a:p>
            <a:r>
              <a:t>Ollama installer and model information: https://ollama.com</a:t>
            </a:r>
          </a:p>
          <a:p>
            <a:r>
              <a:t>Commands on slide run from the repository root; use 'cd enterprise-knowledge-assistant' after cloning.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03 - Live demo: from a PDF to a checked answer</a:t>
            </a:r>
          </a:p>
          <a:p>
            <a:r>
              <a:t>RECORDING WINDOW: 05:00 - 10:00 (5 minutes)</a:t>
            </a:r>
          </a:p>
          <a:p>
            <a:r>
              <a:t>Timing includes the live demonstration or code navigation, not continuous narration.</a:t>
            </a:r>
          </a:p>
          <a:p>
            <a:r>
              <a:t>Read WHAT I SAY aloud. SCREEN CUES are instructions, not spoken text.</a:t>
            </a:r>
          </a:p>
          <a:p/>
          <a:p>
            <a:r>
              <a:t>WHAT I SAY</a:t>
            </a:r>
          </a:p>
          <a:p/>
          <a:p>
            <a:r>
              <a:t>Now let us use the application as a learner would.</a:t>
            </a:r>
          </a:p>
          <a:p/>
          <a:p>
            <a:r>
              <a:t>First, I am opening the small synthetic PDF that I prepared for this demonstration.</a:t>
            </a:r>
          </a:p>
          <a:p/>
          <a:p>
            <a:r>
              <a:t>It contains a fictional training requirement so we can establish the correct answer before using the model.</a:t>
            </a:r>
          </a:p>
          <a:p/>
          <a:p>
            <a:r>
              <a:t>The example says that new starters should complete security training within fourteen days.</a:t>
            </a:r>
          </a:p>
          <a:p/>
          <a:p>
            <a:r>
              <a:t>This is an invented example for learning, not an employer policy.</a:t>
            </a:r>
          </a:p>
          <a:p/>
          <a:p>
            <a:r>
              <a:t>I am pointing to the page containing that sentence because we will return to it when we inspect the answer.</a:t>
            </a:r>
          </a:p>
          <a:p/>
          <a:p>
            <a:r>
              <a:t>Now I am switching to the Knowledge Assistant.</a:t>
            </a:r>
          </a:p>
          <a:p/>
          <a:p>
            <a:r>
              <a:t>On the left, I am choosing the PDF.</a:t>
            </a:r>
          </a:p>
          <a:p/>
          <a:p>
            <a:r>
              <a:t>Notice that selecting a file does not immediately start model work.</a:t>
            </a:r>
          </a:p>
          <a:p/>
          <a:p>
            <a:r>
              <a:t>This is intentional, because uploading alone should not overload a learner's laptop.</a:t>
            </a:r>
          </a:p>
          <a:p/>
          <a:p>
            <a:r>
              <a:t>I am checking that the smaller answer model is selected and that the resource settings are conservative.</a:t>
            </a:r>
          </a:p>
          <a:p/>
          <a:p>
            <a:r>
              <a:t>Now I will click Index PDF.</a:t>
            </a:r>
          </a:p>
          <a:p/>
          <a:p>
            <a:r>
              <a:t>The application begins preparing the document for search.</a:t>
            </a:r>
          </a:p>
          <a:p/>
          <a:p>
            <a:r>
              <a:t>The progress indicator shows pages processed and chunks embedded.</a:t>
            </a:r>
          </a:p>
          <a:p/>
          <a:p>
            <a:r>
              <a:t>A chunk is simply a smaller section of text that the application can search independently.</a:t>
            </a:r>
          </a:p>
          <a:p/>
          <a:p>
            <a:r>
              <a:t>We will look at the relevant code later; for now, follow the change from a selected document to a ready knowledge base.</a:t>
            </a:r>
          </a:p>
          <a:p/>
          <a:p>
            <a:r>
              <a:t>The first embedding request can take longer because Ollama may need to load the embedding model.</a:t>
            </a:r>
          </a:p>
          <a:p/>
          <a:p>
            <a:r>
              <a:t>When indexing finishes, the document status becomes ready.</a:t>
            </a:r>
          </a:p>
          <a:p/>
          <a:p>
            <a:r>
              <a:t>Now I am asking: when should a new starter complete security training?</a:t>
            </a:r>
          </a:p>
          <a:p/>
          <a:p>
            <a:r>
              <a:t>The application first finds potentially relevant document passages.</a:t>
            </a:r>
          </a:p>
          <a:p/>
          <a:p>
            <a:r>
              <a:t>It then sends those passages and my question to the answer model.</a:t>
            </a:r>
          </a:p>
          <a:p/>
          <a:p>
            <a:r>
              <a:t>While the answer is generated, remember that a fluent response is not proof of correctness.</a:t>
            </a:r>
          </a:p>
          <a:p/>
          <a:p>
            <a:r>
              <a:t>I am now comparing the actual response on screen with the fourteen-day requirement in the PDF.</a:t>
            </a:r>
          </a:p>
          <a:p/>
          <a:p>
            <a:r>
              <a:t>Next, I am expanding the source passage.</a:t>
            </a:r>
          </a:p>
          <a:p/>
          <a:p>
            <a:r>
              <a:t>Here I can inspect the page number and the retrieved text.</a:t>
            </a:r>
          </a:p>
          <a:p/>
          <a:p>
            <a:r>
              <a:t>These are the passages used as context; the application does not prove that every generated sentence is correctly cited.</a:t>
            </a:r>
          </a:p>
          <a:p/>
          <a:p>
            <a:r>
              <a:t>I can copy or download the existing answer without asking the model to generate it again.</a:t>
            </a:r>
          </a:p>
          <a:p/>
          <a:p>
            <a:r>
              <a:t>Now I am clicking Index PDF again for the same file.</a:t>
            </a:r>
          </a:p>
          <a:p/>
          <a:p>
            <a:r>
              <a:t>The app compares its content fingerprint with the stored index and avoids repeating the embedding work.</a:t>
            </a:r>
          </a:p>
          <a:p/>
          <a:p>
            <a:r>
              <a:t>This is useful when Streamlit reruns or when I reopen the application.</a:t>
            </a:r>
          </a:p>
          <a:p/>
          <a:p>
            <a:r>
              <a:t>Finally, I will ask a question the document cannot answer, such as a reimbursement amount that is not mentioned anywhere.</a:t>
            </a:r>
          </a:p>
          <a:p/>
          <a:p>
            <a:r>
              <a:t>The model is instructed to say that it could not find the answer in the provided document.</a:t>
            </a:r>
          </a:p>
          <a:p/>
          <a:p>
            <a:r>
              <a:t>Let us inspect what it actually does.</a:t>
            </a:r>
          </a:p>
          <a:p/>
          <a:p>
            <a:r>
              <a:t>If it declines correctly, that is a useful positive example.</a:t>
            </a:r>
          </a:p>
          <a:p/>
          <a:p>
            <a:r>
              <a:t>If it invents an amount, that is an evaluation failure that we should document rather than hide.</a:t>
            </a:r>
          </a:p>
          <a:p/>
          <a:p>
            <a:r>
              <a:t>For my own learning, I keep a small list of answerable and unanswerable questions and compare the responses with the PDF.</a:t>
            </a:r>
          </a:p>
          <a:p/>
          <a:p>
            <a:r>
              <a:t>That simple habit makes the demonstration more meaningful than asking only questions we already know will work.</a:t>
            </a:r>
          </a:p>
          <a:p/>
          <a:p>
            <a:r>
              <a:t>We have now completed the entire user journey: upload, index, ask, and verify.</a:t>
            </a:r>
          </a:p>
          <a:p/>
          <a:p>
            <a:r>
              <a:t>SCREEN CUES - DO NOT READ ALOUD</a:t>
            </a:r>
          </a:p>
          <a:p>
            <a:r>
              <a:t>0:00-0:40 Show the synthetic PDF and ground-truth page.</a:t>
            </a:r>
          </a:p>
          <a:p>
            <a:r>
              <a:t>0:40-1:40 Upload and index. Show progress without explaining every technical step.</a:t>
            </a:r>
          </a:p>
          <a:p>
            <a:r>
              <a:t>1:40-3:00 Ask the factual question and compare the actual answer and source.</a:t>
            </a:r>
          </a:p>
          <a:p>
            <a:r>
              <a:t>3:00-3:45 Show copy/download and duplicate-index reuse.</a:t>
            </a:r>
          </a:p>
          <a:p>
            <a:r>
              <a:t>3:45-5:00 Ask the absent-information question and discuss the observed result.</a:t>
            </a:r>
          </a:p>
          <a:p>
            <a:r>
              <a:t>Preflight with the exact model and PDF. If you trim long waits, disclose that waiting time was shortened.</a:t>
            </a:r>
          </a:p>
          <a:p>
            <a:r>
              <a:t>Do not read unobserved results as if they happened: inspect the live response before commenting.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04 - Start small: no cloud account or GPU required</a:t>
            </a:r>
          </a:p>
          <a:p>
            <a:r>
              <a:t>RECORDING WINDOW: 10:00 - 12:00 (2 minutes)</a:t>
            </a:r>
          </a:p>
          <a:p>
            <a:r>
              <a:t>Timing includes the live demonstration or code navigation, not continuous narration.</a:t>
            </a:r>
          </a:p>
          <a:p>
            <a:r>
              <a:t>Read WHAT I SAY aloud. SCREEN CUES are instructions, not spoken text.</a:t>
            </a:r>
          </a:p>
          <a:p/>
          <a:p>
            <a:r>
              <a:t>WHAT I SAY</a:t>
            </a:r>
          </a:p>
          <a:p/>
          <a:p>
            <a:r>
              <a:t>You can learn these GenAI concepts without starting with cloud infrastructure.</a:t>
            </a:r>
          </a:p>
          <a:p/>
          <a:p>
            <a:r>
              <a:t>This application can run locally without a dedicated GPU, although CPU-only inference may be slower.</a:t>
            </a:r>
          </a:p>
          <a:p/>
          <a:p>
            <a:r>
              <a:t>There is no need to create an AWS account or deploy a cluster for this first exercise.</a:t>
            </a:r>
          </a:p>
          <a:p/>
          <a:p>
            <a:r>
              <a:t>However, I do not want to claim that it runs comfortably on every laptop.</a:t>
            </a:r>
          </a:p>
          <a:p/>
          <a:p>
            <a:r>
              <a:t>The available memory, the chosen model, and the PDF itself all affect the experience.</a:t>
            </a:r>
          </a:p>
          <a:p/>
          <a:p>
            <a:r>
              <a:t>We have not certified a universal minimum RAM or CPU specification.</a:t>
            </a:r>
          </a:p>
          <a:p/>
          <a:p>
            <a:r>
              <a:t>A practical starting configuration is the smaller qwen3:0.6b answer model, one or two CPU threads, and an embedding batch of one to four.</a:t>
            </a:r>
          </a:p>
          <a:p/>
          <a:p>
            <a:r>
              <a:t>These are conservative learning settings rather than a guaranteed hardware minimum.</a:t>
            </a:r>
          </a:p>
          <a:p/>
          <a:p>
            <a:r>
              <a:t>Start with a short text-based PDF of two or three pages so that you can understand the complete flow quickly.</a:t>
            </a:r>
          </a:p>
          <a:p/>
          <a:p>
            <a:r>
              <a:t>If memory is constrained, reduce the batch size and close other heavy applications.</a:t>
            </a:r>
          </a:p>
          <a:p/>
          <a:p>
            <a:r>
              <a:t>A smaller answer model can use less memory but may give weaker answers, so compare it using the same questions.</a:t>
            </a:r>
          </a:p>
          <a:p/>
          <a:p>
            <a:r>
              <a:t>Streamlit and Ollama are separate processes.</a:t>
            </a:r>
          </a:p>
          <a:p/>
          <a:p>
            <a:r>
              <a:t>That means a lightweight frontend does not necessarily imply a lightweight model server.</a:t>
            </a:r>
          </a:p>
          <a:p/>
          <a:p>
            <a:r>
              <a:t>The app limits per-request CPU threads, but this is not a strict cap on total CPU percentage or GPU use.</a:t>
            </a:r>
          </a:p>
          <a:p/>
          <a:p>
            <a:r>
              <a:t>It also avoids retaining every chunk and embedding vector in the browser session.</a:t>
            </a:r>
          </a:p>
          <a:p/>
          <a:p>
            <a:r>
              <a:t>For server-side resource tuning, Ollama can be configured for one parallel request and one loaded model, provided those settings are applied to its server process.</a:t>
            </a:r>
          </a:p>
          <a:p/>
          <a:p>
            <a:r>
              <a:t>The goal is not maximum throughput.</a:t>
            </a:r>
          </a:p>
          <a:p/>
          <a:p>
            <a:r>
              <a:t>The goal is a laptop that remains usable while you learn what each component does.</a:t>
            </a:r>
          </a:p>
          <a:p/>
          <a:p>
            <a:r>
              <a:t>Once the baseline works reliably, increase document size or batch size gradually and observe the trade-off.</a:t>
            </a:r>
          </a:p>
          <a:p/>
          <a:p>
            <a:r>
              <a:t>SCREEN CUES - DO NOT READ ALOUD</a:t>
            </a:r>
          </a:p>
          <a:p>
            <a:r>
              <a:t>Open Advanced settings. Show CPU threads, embedding batch size, answer model, and source count.</a:t>
            </a:r>
          </a:p>
          <a:p>
            <a:r>
              <a:t>Suggested starting point: qwen3:0.6b, 1-2 threads, batch 1-4, a 2-3 page PDF.</a:t>
            </a:r>
          </a:p>
          <a:p>
            <a:r>
              <a:t>Do not describe this as a verified minimum hardware specification.</a:t>
            </a:r>
          </a:p>
          <a:p>
            <a:r>
              <a:t>Model downloads require disk/network; PDF processing and inference remain resource-dependent.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05 - Behind the screen: two simple journeys</a:t>
            </a:r>
          </a:p>
          <a:p>
            <a:r>
              <a:t>RECORDING WINDOW: 12:00 - 15:00 (3 minutes)</a:t>
            </a:r>
          </a:p>
          <a:p>
            <a:r>
              <a:t>Timing includes the live demonstration or code navigation, not continuous narration.</a:t>
            </a:r>
          </a:p>
          <a:p>
            <a:r>
              <a:t>Read WHAT I SAY aloud. SCREEN CUES are instructions, not spoken text.</a:t>
            </a:r>
          </a:p>
          <a:p/>
          <a:p>
            <a:r>
              <a:t>WHAT I SAY</a:t>
            </a:r>
          </a:p>
          <a:p/>
          <a:p>
            <a:r>
              <a:t>We have seen the application work, so now we can explain the architecture without starting with a wall of terminology.</a:t>
            </a:r>
          </a:p>
          <a:p/>
          <a:p>
            <a:r>
              <a:t>There are two journeys.</a:t>
            </a:r>
          </a:p>
          <a:p/>
          <a:p>
            <a:r>
              <a:t>The first journey prepares the PDF for search.</a:t>
            </a:r>
          </a:p>
          <a:p/>
          <a:p>
            <a:r>
              <a:t>The loader extracts text from each page.</a:t>
            </a:r>
          </a:p>
          <a:p/>
          <a:p>
            <a:r>
              <a:t>The chunker breaks that page text into smaller sections.</a:t>
            </a:r>
          </a:p>
          <a:p/>
          <a:p>
            <a:r>
              <a:t>The embedding model converts each section into a list of numbers that represents aspects of its meaning.</a:t>
            </a:r>
          </a:p>
          <a:p/>
          <a:p>
            <a:r>
              <a:t>Think of this as a semantic address that helps the application compare related text.</a:t>
            </a:r>
          </a:p>
          <a:p/>
          <a:p>
            <a:r>
              <a:t>The application stores the text, its page information, and its vector in LanceDB.</a:t>
            </a:r>
          </a:p>
          <a:p/>
          <a:p>
            <a:r>
              <a:t>The second journey starts when I ask a question.</a:t>
            </a:r>
          </a:p>
          <a:p/>
          <a:p>
            <a:r>
              <a:t>The question is converted into a vector using the same embedding model.</a:t>
            </a:r>
          </a:p>
          <a:p/>
          <a:p>
            <a:r>
              <a:t>LanceDB searches for nearby document vectors and returns their associated text.</a:t>
            </a:r>
          </a:p>
          <a:p/>
          <a:p>
            <a:r>
              <a:t>The application places that retrieved text into a prompt along with the question.</a:t>
            </a:r>
          </a:p>
          <a:p/>
          <a:p>
            <a:r>
              <a:t>Qwen3 then writes an answer from the supplied context.</a:t>
            </a:r>
          </a:p>
          <a:p/>
          <a:p>
            <a:r>
              <a:t>This pattern is called retrieval-augmented generation, or RAG.</a:t>
            </a:r>
          </a:p>
          <a:p/>
          <a:p>
            <a:r>
              <a:t>The embedding model and the answer model have different jobs.</a:t>
            </a:r>
          </a:p>
          <a:p/>
          <a:p>
            <a:r>
              <a:t>Nomic-embed-text helps the application find potentially relevant information.</a:t>
            </a:r>
          </a:p>
          <a:p/>
          <a:p>
            <a:r>
              <a:t>Qwen3 turns the selected information into a readable response.</a:t>
            </a:r>
          </a:p>
          <a:p/>
          <a:p>
            <a:r>
              <a:t>The PDF is not being used to train or fine-tune Qwen3 during this process.</a:t>
            </a:r>
          </a:p>
          <a:p/>
          <a:p>
            <a:r>
              <a:t>We are providing reference text at the time of the question.</a:t>
            </a:r>
          </a:p>
          <a:p/>
          <a:p>
            <a:r>
              <a:t>A useful analogy is an open-book exam: first locate useful pages, then write an answer from them.</a:t>
            </a:r>
          </a:p>
          <a:p/>
          <a:p>
            <a:r>
              <a:t>But the analogy has a limit: the model can still misunderstand or invent something, so we inspect the evidence.</a:t>
            </a:r>
          </a:p>
          <a:p/>
          <a:p>
            <a:r>
              <a:t>In the local configuration, the model calls go to Ollama and the document index stays on local disk.</a:t>
            </a:r>
          </a:p>
          <a:p/>
          <a:p>
            <a:r>
              <a:t>The original PDF is not copied as a raw upload, but its extracted content does persist in the database.</a:t>
            </a:r>
          </a:p>
          <a:p/>
          <a:p>
            <a:r>
              <a:t>Also, model installation may involve a network download before the demonstration.</a:t>
            </a:r>
          </a:p>
          <a:p/>
          <a:p>
            <a:r>
              <a:t>This is a small, single-document learning application, not a multi-user enterprise search service.</a:t>
            </a:r>
          </a:p>
          <a:p/>
          <a:p>
            <a:r>
              <a:t>With that picture in mind, the folder structure will now make much more sense.</a:t>
            </a:r>
          </a:p>
          <a:p/>
          <a:p>
            <a:r>
              <a:t>SCREEN CUES - DO NOT READ ALOUD</a:t>
            </a:r>
          </a:p>
          <a:p>
            <a:r>
              <a:t>Trace the top row left-to-right, then the bottom row.</a:t>
            </a:r>
          </a:p>
          <a:p>
            <a:r>
              <a:t>Use the open-book analogy. Avoid equations, embedding dimensions, and API options on this slide.</a:t>
            </a:r>
          </a:p>
          <a:p>
            <a:r>
              <a:t>Point out that the two rows use the same embedding model but only the question path calls Qwen3.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06 - Codebase tour: one responsibility per area</a:t>
            </a:r>
          </a:p>
          <a:p>
            <a:r>
              <a:t>RECORDING WINDOW: 15:00 - 17:00 (2 minutes)</a:t>
            </a:r>
          </a:p>
          <a:p>
            <a:r>
              <a:t>Timing includes the live demonstration or code navigation, not continuous narration.</a:t>
            </a:r>
          </a:p>
          <a:p>
            <a:r>
              <a:t>Read WHAT I SAY aloud. SCREEN CUES are instructions, not spoken text.</a:t>
            </a:r>
          </a:p>
          <a:p/>
          <a:p>
            <a:r>
              <a:t>WHAT I SAY</a:t>
            </a:r>
          </a:p>
          <a:p/>
          <a:p>
            <a:r>
              <a:t>Let us open the codebase and connect the folders to the experience we just saw.</a:t>
            </a:r>
          </a:p>
          <a:p/>
          <a:p>
            <a:r>
              <a:t>Start with app.py.</a:t>
            </a:r>
          </a:p>
          <a:p/>
          <a:p>
            <a:r>
              <a:t>This is the Streamlit entry point, so it defines the workspace and decides what happens when a user clicks a button.</a:t>
            </a:r>
          </a:p>
          <a:p/>
          <a:p>
            <a:r>
              <a:t>The ingestion folder contains the PDF loader, the chunker, and the coordinating pipeline.</a:t>
            </a:r>
          </a:p>
          <a:p/>
          <a:p>
            <a:r>
              <a:t>The embeddings folder contains the calls that turn text into searchable vectors and the shared runtime settings.</a:t>
            </a:r>
          </a:p>
          <a:p/>
          <a:p>
            <a:r>
              <a:t>The vectorstore folder contains the LanceDB manager.</a:t>
            </a:r>
          </a:p>
          <a:p/>
          <a:p>
            <a:r>
              <a:t>That module stores prepared records, checks the current index, and retrieves passages for a question.</a:t>
            </a:r>
          </a:p>
          <a:p/>
          <a:p>
            <a:r>
              <a:t>The llm folder contains the answer generator.</a:t>
            </a:r>
          </a:p>
          <a:p/>
          <a:p>
            <a:r>
              <a:t>It constructs the prompt and calls the selected Qwen3 model.</a:t>
            </a:r>
          </a:p>
          <a:p/>
          <a:p>
            <a:r>
              <a:t>The tests folder checks both ingestion behavior and frontend interactions.</a:t>
            </a:r>
          </a:p>
          <a:p/>
          <a:p>
            <a:r>
              <a:t>The Streamlit configuration file controls things such as upload size, theme, and file watching.</a:t>
            </a:r>
          </a:p>
          <a:p/>
          <a:p>
            <a:r>
              <a:t>The requirements file describes the Python libraries, and the README contains the setup and troubleshooting instructions.</a:t>
            </a:r>
          </a:p>
          <a:p/>
          <a:p>
            <a:r>
              <a:t>There is also a small utils.py compatibility helper that re-exports the chunking function.</a:t>
            </a:r>
          </a:p>
          <a:p/>
          <a:p>
            <a:r>
              <a:t>It is not another independent chunking algorithm.</a:t>
            </a:r>
          </a:p>
          <a:p/>
          <a:p>
            <a:r>
              <a:t>The generated database folder holds data rather than application logic.</a:t>
            </a:r>
          </a:p>
          <a:p/>
          <a:p>
            <a:r>
              <a:t>For a beginner, do not try to read every line in repository order.</a:t>
            </a:r>
          </a:p>
          <a:p/>
          <a:p>
            <a:r>
              <a:t>Follow one user action through the modules instead.</a:t>
            </a:r>
          </a:p>
          <a:p/>
          <a:p>
            <a:r>
              <a:t>For example, trace Index PDF from app.py into the ingestion pipeline and then into storage.</a:t>
            </a:r>
          </a:p>
          <a:p/>
          <a:p>
            <a:r>
              <a:t>This gives each function a reason to exist and makes unfamiliar code easier to understand.</a:t>
            </a:r>
          </a:p>
          <a:p/>
          <a:p>
            <a:r>
              <a:t>The design lesson is simple: a small number of clear responsibilities is more useful than a large collection of tools that we cannot explain.</a:t>
            </a:r>
          </a:p>
          <a:p/>
          <a:p>
            <a:r>
              <a:t>SCREEN CUES - DO NOT READ ALOUD</a:t>
            </a:r>
          </a:p>
          <a:p>
            <a:r>
              <a:t>Switch to VS Code Explorer and expand ingestion, embeddings, vectorstore, llm, and tests.</a:t>
            </a:r>
          </a:p>
          <a:p>
            <a:r>
              <a:t>Point to .streamlit/config.toml, requirements.txt, README.md, and utils.py.</a:t>
            </a:r>
          </a:p>
          <a:p>
            <a:r>
              <a:t>Do not explain every import. Give each area a one-sentence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07 - Frontend: turning clicks into useful work</a:t>
            </a:r>
          </a:p>
          <a:p>
            <a:r>
              <a:t>RECORDING WINDOW: 17:00 - 20:00 (3 minutes)</a:t>
            </a:r>
          </a:p>
          <a:p>
            <a:r>
              <a:t>Timing includes the live demonstration or code navigation, not continuous narration.</a:t>
            </a:r>
          </a:p>
          <a:p>
            <a:r>
              <a:t>Read WHAT I SAY aloud. SCREEN CUES are instructions, not spoken text.</a:t>
            </a:r>
          </a:p>
          <a:p/>
          <a:p>
            <a:r>
              <a:t>WHAT I SAY</a:t>
            </a:r>
          </a:p>
          <a:p/>
          <a:p>
            <a:r>
              <a:t>Now I will show how the frontend connects the user's actions to the processing code.</a:t>
            </a:r>
          </a:p>
          <a:p/>
          <a:p>
            <a:r>
              <a:t>In app.py, the page configuration and small amount of styling create the document workspace and answer panel.</a:t>
            </a:r>
          </a:p>
          <a:p/>
          <a:p>
            <a:r>
              <a:t>The document card displays the current index and its status.</a:t>
            </a:r>
          </a:p>
          <a:p/>
          <a:p>
            <a:r>
              <a:t>The upload widget lets the user select a file, but does not process it immediately.</a:t>
            </a:r>
          </a:p>
          <a:p/>
          <a:p>
            <a:r>
              <a:t>The important boundary is the Index PDF button.</a:t>
            </a:r>
          </a:p>
          <a:p/>
          <a:p>
            <a:r>
              <a:t>Only that action enters the indexing path.</a:t>
            </a:r>
          </a:p>
          <a:p/>
          <a:p>
            <a:r>
              <a:t>This is significant in Streamlit because the script can rerun when widgets change.</a:t>
            </a:r>
          </a:p>
          <a:p/>
          <a:p>
            <a:r>
              <a:t>If expensive work is placed outside the correct event condition, a small UI interaction can accidentally repeat it.</a:t>
            </a:r>
          </a:p>
          <a:p/>
          <a:p>
            <a:r>
              <a:t>The current app avoids that by keeping processing behind explicit actions.</a:t>
            </a:r>
          </a:p>
          <a:p/>
          <a:p>
            <a:r>
              <a:t>Next, notice the question form.</a:t>
            </a:r>
          </a:p>
          <a:p/>
          <a:p>
            <a:r>
              <a:t>Typing a question is different from submitting it.</a:t>
            </a:r>
          </a:p>
          <a:p/>
          <a:p>
            <a:r>
              <a:t>Only Generate answer performs the query embedding, document search, and answer generation.</a:t>
            </a:r>
          </a:p>
          <a:p/>
          <a:p>
            <a:r>
              <a:t>The example-question buttons simply fill the text box.</a:t>
            </a:r>
          </a:p>
          <a:p/>
          <a:p>
            <a:r>
              <a:t>They do not contact the model.</a:t>
            </a:r>
          </a:p>
          <a:p/>
          <a:p>
            <a:r>
              <a:t>Session state keeps a small summary and the latest answer, question, and source passages so the screen does not lose useful results on reruns.</a:t>
            </a:r>
          </a:p>
          <a:p/>
          <a:p>
            <a:r>
              <a:t>It does not retain the full document's chunk list or every embedding vector.</a:t>
            </a:r>
          </a:p>
          <a:p/>
          <a:p>
            <a:r>
              <a:t>The app also caches document statistics briefly, rather than performing the same status lookup on every small interaction.</a:t>
            </a:r>
          </a:p>
          <a:p/>
          <a:p>
            <a:r>
              <a:t>After indexing succeeds, that cache is cleared so the new index becomes visible.</a:t>
            </a:r>
          </a:p>
          <a:p/>
          <a:p>
            <a:r>
              <a:t>At the bottom of the answer panel, the copy and download controls reuse the answer that already exists.</a:t>
            </a:r>
          </a:p>
          <a:p/>
          <a:p>
            <a:r>
              <a:t>This is a good example of the relationship between user experience and performance.</a:t>
            </a:r>
          </a:p>
          <a:p/>
          <a:p>
            <a:r>
              <a:t>A professional frontend is not only about colors or cards.</a:t>
            </a:r>
          </a:p>
          <a:p/>
          <a:p>
            <a:r>
              <a:t>It should make the next action clear, show progress and errors honestly, and avoid expensive surprises.</a:t>
            </a:r>
          </a:p>
          <a:p/>
          <a:p>
            <a:r>
              <a:t>For a fresher, I recommend first understanding the upload control, the indexing condition, the question form, and the session-state values.</a:t>
            </a:r>
          </a:p>
          <a:p/>
          <a:p>
            <a:r>
              <a:t>Once these are clear, the rest of the layout is much easier to follow.</a:t>
            </a:r>
          </a:p>
          <a:p/>
          <a:p>
            <a:r>
              <a:t>I will scroll through those four areas in the code so you can connect each one to the live screen.</a:t>
            </a:r>
          </a:p>
          <a:p/>
          <a:p>
            <a:r>
              <a:t>SCREEN CUES - DO NOT READ ALOUD</a:t>
            </a:r>
          </a:p>
          <a:p>
            <a:r>
              <a:t>In app.py, show st.file_uploader, the Index PDF button condition, st.form('question_form'), and if submitted.</a:t>
            </a:r>
          </a:p>
          <a:p>
            <a:r>
              <a:t>Then show st.session_state initialization and answer/source rendering.</a:t>
            </a:r>
          </a:p>
          <a:p>
            <a:r>
              <a:t>Spend about 60-90 seconds scrolling through those locations rather than reading all CSS.</a:t>
            </a:r>
          </a:p>
          <a:p>
            <a:r>
              <a:t>Point out index_info caching and cache invalidation, without making cache internals the focus.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08 - Document preparation: from pages to search data</a:t>
            </a:r>
          </a:p>
          <a:p>
            <a:r>
              <a:t>RECORDING WINDOW: 20:00 - 23:00 (3 minutes)</a:t>
            </a:r>
          </a:p>
          <a:p>
            <a:r>
              <a:t>Timing includes the live demonstration or code navigation, not continuous narration.</a:t>
            </a:r>
          </a:p>
          <a:p>
            <a:r>
              <a:t>Read WHAT I SAY aloud. SCREEN CUES are instructions, not spoken text.</a:t>
            </a:r>
          </a:p>
          <a:p/>
          <a:p>
            <a:r>
              <a:t>WHAT I SAY</a:t>
            </a:r>
          </a:p>
          <a:p/>
          <a:p>
            <a:r>
              <a:t>The next part of the code explains what happens after Index PDF is clicked.</a:t>
            </a:r>
          </a:p>
          <a:p/>
          <a:p>
            <a:r>
              <a:t>The pipeline coordinates the work, but it delegates focused tasks to smaller modules.</a:t>
            </a:r>
          </a:p>
          <a:p/>
          <a:p>
            <a:r>
              <a:t>In pdf_loader.py, iter_pdf_pages reads the selected PDF and extracts text from one page at a time.</a:t>
            </a:r>
          </a:p>
          <a:p/>
          <a:p>
            <a:r>
              <a:t>It keeps the page number with the text, which is why we can later show page-labelled sources.</a:t>
            </a:r>
          </a:p>
          <a:p/>
          <a:p>
            <a:r>
              <a:t>The loader checks the upload size, page count, extracted-character count, and encryption state.</a:t>
            </a:r>
          </a:p>
          <a:p/>
          <a:p>
            <a:r>
              <a:t>If the PDF is only scanned images, this code does not silently run OCR.</a:t>
            </a:r>
          </a:p>
          <a:p/>
          <a:p>
            <a:r>
              <a:t>That keeps the behavior explicit and avoids starting another expensive process without the user's knowledge.</a:t>
            </a:r>
          </a:p>
          <a:p/>
          <a:p>
            <a:r>
              <a:t>The next module is chunker.py.</a:t>
            </a:r>
          </a:p>
          <a:p/>
          <a:p>
            <a:r>
              <a:t>Its job is to divide each page into smaller text sections.</a:t>
            </a:r>
          </a:p>
          <a:p/>
          <a:p>
            <a:r>
              <a:t>The current settings use up to one thousand characters, with an overlap target of two hundred characters.</a:t>
            </a:r>
          </a:p>
          <a:p/>
          <a:p>
            <a:r>
              <a:t>These are characters, not model tokens.</a:t>
            </a:r>
          </a:p>
          <a:p/>
          <a:p>
            <a:r>
              <a:t>Overlap carries some nearby context into the next section, but it does not cross page boundaries in this implementation.</a:t>
            </a:r>
          </a:p>
          <a:p/>
          <a:p>
            <a:r>
              <a:t>The pipeline then groups chunks into small batches.</a:t>
            </a:r>
          </a:p>
          <a:p/>
          <a:p>
            <a:r>
              <a:t>For each batch, embedding_model.py calls nomic-embed-text through Ollama.</a:t>
            </a:r>
          </a:p>
          <a:p/>
          <a:p>
            <a:r>
              <a:t>This creates vectors that the application will later compare with a question vector.</a:t>
            </a:r>
          </a:p>
          <a:p/>
          <a:p>
            <a:r>
              <a:t>The vectors are stored with the text, page number, source name, and document identifier.</a:t>
            </a:r>
          </a:p>
          <a:p/>
          <a:p>
            <a:r>
              <a:t>Before starting, the frontend checks a content fingerprint to avoid preparing the same PDF repeatedly.</a:t>
            </a:r>
          </a:p>
          <a:p/>
          <a:p>
            <a:r>
              <a:t>That saves time after reruns and app restarts.</a:t>
            </a:r>
          </a:p>
          <a:p/>
          <a:p>
            <a:r>
              <a:t>The final storage step stages batches in a temporary Arrow file and then commits the completed data to LanceDB.</a:t>
            </a:r>
          </a:p>
          <a:p/>
          <a:p>
            <a:r>
              <a:t>The original reason for staging was an important framework boundary.</a:t>
            </a:r>
          </a:p>
          <a:p/>
          <a:p>
            <a:r>
              <a:t>Database workers should not execute the Streamlit progress updates while consuming a live ingestion generator.</a:t>
            </a:r>
          </a:p>
          <a:p/>
          <a:p>
            <a:r>
              <a:t>Staging lets preparation and progress remain on the calling thread while keeping vector batches small.</a:t>
            </a:r>
          </a:p>
          <a:p/>
          <a:p>
            <a:r>
              <a:t>It also means a processing failure does not replace the working index with a half-prepared document.</a:t>
            </a:r>
          </a:p>
          <a:p/>
          <a:p>
            <a:r>
              <a:t>For a beginner, remember the main story: extract, split, embed, and store.</a:t>
            </a:r>
          </a:p>
          <a:p/>
          <a:p>
            <a:r>
              <a:t>You can experiment with chunk size or batch size later, but change one setting at a time and check whether retrieval still finds the expected passage.</a:t>
            </a:r>
          </a:p>
          <a:p/>
          <a:p>
            <a:r>
              <a:t>SCREEN CUES - DO NOT READ ALOUD</a:t>
            </a:r>
          </a:p>
          <a:p>
            <a:r>
              <a:t>Open ingestion/pdf_loader.py, ingestion/chunker.py, ingestion/pipeline.py, and embeddings/embedding_model.py.</a:t>
            </a:r>
          </a:p>
          <a:p>
            <a:r>
              <a:t>Show iter_pdf_pages, CHUNK_SIZE/CHUNK_OVERLAP, index_pdf, and the ollama.embed call.</a:t>
            </a:r>
          </a:p>
          <a:p>
            <a:r>
              <a:t>Point to document_fingerprint and the record metadata, then briefly mention Arrow staging.</a:t>
            </a:r>
          </a:p>
          <a:p>
            <a:r>
              <a:t>Avoid a detailed Arrow schema walkthrough; focus on why batching and metadata help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09 - Answering: find evidence before writing</a:t>
            </a:r>
          </a:p>
          <a:p>
            <a:r>
              <a:t>RECORDING WINDOW: 23:00 - 26:00 (3 minutes)</a:t>
            </a:r>
          </a:p>
          <a:p>
            <a:r>
              <a:t>Timing includes the live demonstration or code navigation, not continuous narration.</a:t>
            </a:r>
          </a:p>
          <a:p>
            <a:r>
              <a:t>Read WHAT I SAY aloud. SCREEN CUES are instructions, not spoken text.</a:t>
            </a:r>
          </a:p>
          <a:p/>
          <a:p>
            <a:r>
              <a:t>WHAT I SAY</a:t>
            </a:r>
          </a:p>
          <a:p/>
          <a:p>
            <a:r>
              <a:t>The last part of the current codebase is the question-and-answer path.</a:t>
            </a:r>
          </a:p>
          <a:p/>
          <a:p>
            <a:r>
              <a:t>When I submit a question, the app first creates its embedding using the same model used for the document.</a:t>
            </a:r>
          </a:p>
          <a:p/>
          <a:p>
            <a:r>
              <a:t>Using the same embedding space is important because the system is comparing the question with stored chunks.</a:t>
            </a:r>
          </a:p>
          <a:p/>
          <a:p>
            <a:r>
              <a:t>In lancedb_manager.py, search_embeddings requests the nearest passages.</a:t>
            </a:r>
          </a:p>
          <a:p/>
          <a:p>
            <a:r>
              <a:t>The frontend defaults to three source chunks, with a small adjustable range.</a:t>
            </a:r>
          </a:p>
          <a:p/>
          <a:p>
            <a:r>
              <a:t>The result includes the selected text and its available page and source information.</a:t>
            </a:r>
          </a:p>
          <a:p/>
          <a:p>
            <a:r>
              <a:t>The application does not need to return the full stored vector data to render the answer.</a:t>
            </a:r>
          </a:p>
          <a:p/>
          <a:p>
            <a:r>
              <a:t>Now answer_generator.py joins the retrieved text into the context for a prompt.</a:t>
            </a:r>
          </a:p>
          <a:p/>
          <a:p>
            <a:r>
              <a:t>The prompt includes the user's question and asks Qwen3 to answer only from that context.</a:t>
            </a:r>
          </a:p>
          <a:p/>
          <a:p>
            <a:r>
              <a:t>It also asks for a clear response and a concise summary.</a:t>
            </a:r>
          </a:p>
          <a:p/>
          <a:p>
            <a:r>
              <a:t>If the information is absent, it asks the model to say that it could not find the answer in the provided document.</a:t>
            </a:r>
          </a:p>
          <a:p/>
          <a:p>
            <a:r>
              <a:t>The selected answer model is then called through Ollama.</a:t>
            </a:r>
          </a:p>
          <a:p/>
          <a:p>
            <a:r>
              <a:t>The current request limits the answer length and context size, and disables extended thinking for this learning workflow.</a:t>
            </a:r>
          </a:p>
          <a:p/>
          <a:p>
            <a:r>
              <a:t>After generation, Streamlit displays the answer and separately lists the retrieved source passages.</a:t>
            </a:r>
          </a:p>
          <a:p/>
          <a:p>
            <a:r>
              <a:t>There are two important limitations to explain.</a:t>
            </a:r>
          </a:p>
          <a:p/>
          <a:p>
            <a:r>
              <a:t>First, nearest text is not automatically relevant text.</a:t>
            </a:r>
          </a:p>
          <a:p/>
          <a:p>
            <a:r>
              <a:t>The current app has no configured relevance threshold or reranker, so an unrelated question can still retrieve passages.</a:t>
            </a:r>
          </a:p>
          <a:p/>
          <a:p>
            <a:r>
              <a:t>Second, the prompt instruction does not guarantee that Qwen3 will refuse an unsupported answer.</a:t>
            </a:r>
          </a:p>
          <a:p/>
          <a:p>
            <a:r>
              <a:t>The sources shown on screen are retrieved context, not verified citations for every sentence.</a:t>
            </a:r>
          </a:p>
          <a:p/>
          <a:p>
            <a:r>
              <a:t>That is why my test questions include missing-information cases.</a:t>
            </a:r>
          </a:p>
          <a:p/>
          <a:p>
            <a:r>
              <a:t>If the expected passage was never retrieved, I investigate the search or chunking stage.</a:t>
            </a:r>
          </a:p>
          <a:p/>
          <a:p>
            <a:r>
              <a:t>If the right passage was retrieved but the answer is wrong, I investigate the prompt or answer model.</a:t>
            </a:r>
          </a:p>
          <a:p/>
          <a:p>
            <a:r>
              <a:t>This distinction prevents random changes and helps us learn from a failure.</a:t>
            </a:r>
          </a:p>
          <a:p/>
          <a:p>
            <a:r>
              <a:t>For your first project, write down five questions, their expected answers, and the supporting pages.</a:t>
            </a:r>
          </a:p>
          <a:p/>
          <a:p>
            <a:r>
              <a:t>Then change one setting, repeat the same questions, and record what improved or became worse.</a:t>
            </a:r>
          </a:p>
          <a:p/>
          <a:p>
            <a:r>
              <a:t>That small evaluation habit is more valuable than adding a new framework before understanding the existing flow.</a:t>
            </a:r>
          </a:p>
          <a:p/>
          <a:p>
            <a:r>
              <a:t>SCREEN CUES - DO NOT READ ALOUD</a:t>
            </a:r>
          </a:p>
          <a:p>
            <a:r>
              <a:t>Open search_embeddings in vectorstore/lancedb_manager.py and generate_answer in llm/answer_generator.py.</a:t>
            </a:r>
          </a:p>
          <a:p>
            <a:r>
              <a:t>Show the retrieval call, context assembly, and grounding instruction.</a:t>
            </a:r>
          </a:p>
          <a:p>
            <a:r>
              <a:t>Mention tests/test_ingestion.py and tests/test_app.py as the behavior checks; no need to read all tests.</a:t>
            </a:r>
          </a:p>
          <a:p>
            <a:r>
              <a:t>Return briefly to the source panel in the app to connect code with the user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10 - Next step: from laptop prototype to enterprise</a:t>
            </a:r>
          </a:p>
          <a:p>
            <a:r>
              <a:t>RECORDING WINDOW: 26:00 - 30:00 (4 minutes)</a:t>
            </a:r>
          </a:p>
          <a:p>
            <a:r>
              <a:t>Timing includes the live demonstration or code navigation, not continuous narration.</a:t>
            </a:r>
          </a:p>
          <a:p>
            <a:r>
              <a:t>Read WHAT I SAY aloud. SCREEN CUES are instructions, not spoken text.</a:t>
            </a:r>
          </a:p>
          <a:p/>
          <a:p>
            <a:r>
              <a:t>WHAT I SAY</a:t>
            </a:r>
          </a:p>
          <a:p/>
          <a:p>
            <a:r>
              <a:t>Let us finish by separating what works today from a possible enterprise design.</a:t>
            </a:r>
          </a:p>
          <a:p/>
          <a:p>
            <a:r>
              <a:t>Today, this is a local, single-document learning application.</a:t>
            </a:r>
          </a:p>
          <a:p/>
          <a:p>
            <a:r>
              <a:t>It does not have enterprise SSO, application roles, per-user document isolation, or an EKS deployment.</a:t>
            </a:r>
          </a:p>
          <a:p/>
          <a:p>
            <a:r>
              <a:t>Those are proposed enhancements, not features I am claiming to have built.</a:t>
            </a:r>
          </a:p>
          <a:p/>
          <a:p>
            <a:r>
              <a:t>In an enterprise version, the first step is identity.</a:t>
            </a:r>
          </a:p>
          <a:p/>
          <a:p>
            <a:r>
              <a:t>Employees should sign in through the organization's approved identity provider rather than a separate password store inside this app.</a:t>
            </a:r>
          </a:p>
          <a:p/>
          <a:p>
            <a:r>
              <a:t>An approved OIDC integration, or an approved SAML-capable authentication layer where required, can connect that identity provider to the application.</a:t>
            </a:r>
          </a:p>
          <a:p/>
          <a:p>
            <a:r>
              <a:t>The backend must validate the identity and the claims it relies on.</a:t>
            </a:r>
          </a:p>
          <a:p/>
          <a:p>
            <a:r>
              <a:t>The second step is authorization.</a:t>
            </a:r>
          </a:p>
          <a:p/>
          <a:p>
            <a:r>
              <a:t>Signing in does not mean someone can access every uploaded document.</a:t>
            </a:r>
          </a:p>
          <a:p/>
          <a:p>
            <a:r>
              <a:t>Application roles might include a viewer, a contributor who can upload authorized documents, and an administrator.</a:t>
            </a:r>
          </a:p>
          <a:p/>
          <a:p>
            <a:r>
              <a:t>Those role checks must be enforced by backend operations, not just by hiding controls in the interface.</a:t>
            </a:r>
          </a:p>
          <a:p/>
          <a:p>
            <a:r>
              <a:t>Document-level permissions must also restrict retrieval before any text is sent to a model.</a:t>
            </a:r>
          </a:p>
          <a:p/>
          <a:p>
            <a:r>
              <a:t>Otherwise, a chatbot could reveal information through an answer even when a page or button is hidden.</a:t>
            </a:r>
          </a:p>
          <a:p/>
          <a:p>
            <a:r>
              <a:t>For deployment, I would package the frontend, API, and indexing workers into separate container workloads.</a:t>
            </a:r>
          </a:p>
          <a:p/>
          <a:p>
            <a:r>
              <a:t>Amazon EKS could host and manage those workloads if Kubernetes is appropriate for the organization's operating model.</a:t>
            </a:r>
          </a:p>
          <a:p/>
          <a:p>
            <a:r>
              <a:t>EKS is the managed Kubernetes platform, not the container itself.</a:t>
            </a:r>
          </a:p>
          <a:p/>
          <a:p>
            <a:r>
              <a:t>Docker or another compatible build tool produces container images, and the cluster runs workloads from those images.</a:t>
            </a:r>
          </a:p>
          <a:p/>
          <a:p>
            <a:r>
              <a:t>The frontend should not depend on an individual pod's local disk for shared enterprise knowledge.</a:t>
            </a:r>
          </a:p>
          <a:p/>
          <a:p>
            <a:r>
              <a:t>Source documents could live in approved object storage, while a suitable shared vector service or deliberately engineered shared store holds searchable records and permissions.</a:t>
            </a:r>
          </a:p>
          <a:p/>
          <a:p>
            <a:r>
              <a:t>This requires a storage and concurrency design, not simply mounting the existing laptop database in every replica.</a:t>
            </a:r>
          </a:p>
          <a:p/>
          <a:p>
            <a:r>
              <a:t>Long indexing tasks should be submitted as jobs to workers, so a browser session does not own the whole processing lifecycle.</a:t>
            </a:r>
          </a:p>
          <a:p/>
          <a:p>
            <a:r>
              <a:t>Progress should be reported through a job status interface rather than UI calls from background workers.</a:t>
            </a:r>
          </a:p>
          <a:p/>
          <a:p>
            <a:r>
              <a:t>Model inference is another service boundary.</a:t>
            </a:r>
          </a:p>
          <a:p/>
          <a:p>
            <a:r>
              <a:t>It could use an approved managed endpoint or a properly sized self-hosted service, with appropriate network access, cost, and data-handling controls.</a:t>
            </a:r>
          </a:p>
          <a:p/>
          <a:p>
            <a:r>
              <a:t>There is also operational work: secrets management, encryption, audit logs, monitoring, retention, deletion, and grounded-answer evaluation.</a:t>
            </a:r>
          </a:p>
          <a:p/>
          <a:p>
            <a:r>
              <a:t>Kubernetes RBAC protects cluster resources.</a:t>
            </a:r>
          </a:p>
          <a:p/>
          <a:p>
            <a:r>
              <a:t>It does not replace the application's role and document-access checks.</a:t>
            </a:r>
          </a:p>
          <a:p/>
          <a:p>
            <a:r>
              <a:t>Before enterprise release, this design would need security review, load testing, failure recovery, and an agreed support model.</a:t>
            </a:r>
          </a:p>
          <a:p/>
          <a:p>
            <a:r>
              <a:t>For a fresher, do not start by building this entire diagram.</a:t>
            </a:r>
          </a:p>
          <a:p/>
          <a:p>
            <a:r>
              <a:t>First reproduce the local application with a safe document, understand every module, and create a small evaluation set.</a:t>
            </a:r>
          </a:p>
          <a:p/>
          <a:p>
            <a:r>
              <a:t>Then choose one enhancement based on a real requirement.</a:t>
            </a:r>
          </a:p>
          <a:p/>
          <a:p>
            <a:r>
              <a:t>My learning path is to build a small working system, measure its limitations, and improve it deliberately.</a:t>
            </a:r>
          </a:p>
          <a:p/>
          <a:p>
            <a:r>
              <a:t>Thank you for learning with me.</a:t>
            </a:r>
          </a:p>
          <a:p/>
          <a:p>
            <a:r>
              <a:t>I am Alok Singh, and I hope this walkthrough gives you a practical starting point for your own GenAI project.</a:t>
            </a:r>
          </a:p>
          <a:p/>
          <a:p>
            <a:r>
              <a:t>SCREEN CUES - DO NOT READ ALOUD</a:t>
            </a:r>
          </a:p>
          <a:p>
            <a:r>
              <a:t>Trace identity -&gt; application authorization -&gt; EKS workloads -&gt; shared data/model services.</a:t>
            </a:r>
          </a:p>
          <a:p>
            <a:r>
              <a:t>Explicitly state: all boxes on this slide are proposed; SSO, RBAC, EKS, queues, and shared services are not implemented.</a:t>
            </a:r>
          </a:p>
          <a:p>
            <a:r>
              <a:t>Suggested reading: docs.aws.amazon.com/eks/ ; kubernetes.io/docs/reference/access-authn-authz/rbac/</a:t>
            </a:r>
          </a:p>
          <a:p>
            <a:r>
              <a:t>This is a conceptual architecture, not a deployment blueprint or cost estimate.</a:t>
            </a:r>
          </a:p>
          <a:p>
            <a:r>
              <a:t>End with the learner's next step: a safe PDF, five questions, and one measurable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01 / START WITH 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4243D"/>
                </a:solidFill>
                <a:latin typeface="Calibri"/>
              </a:defRPr>
            </a:pPr>
            <a:r>
              <a:t>Your first GenAI app: see it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9669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ALOK SINGH  |  Independent personal learning project  |  Version 2: demo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01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01368"/>
            <a:ext cx="109728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700" b="1">
                <a:solidFill>
                  <a:srgbClr val="2563EB"/>
                </a:solidFill>
                <a:latin typeface="Calibri"/>
              </a:defRPr>
            </a:pPr>
            <a:r>
              <a:t>Upload a PDF. Ask a question. Check the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697480"/>
            <a:ext cx="3566160" cy="2167128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926080"/>
            <a:ext cx="314553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1  Document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675887"/>
            <a:ext cx="3145536" cy="9326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A small public or</a:t>
            </a:r>
          </a:p>
          <a:p>
            <a:pPr>
              <a:spcAft>
                <a:spcPts val="5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synthetic PDF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697480"/>
            <a:ext cx="3566160" cy="2167128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2926080"/>
            <a:ext cx="314553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2 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3675887"/>
            <a:ext cx="3145536" cy="9326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Ask about a fact</a:t>
            </a:r>
          </a:p>
          <a:p>
            <a:pPr>
              <a:spcAft>
                <a:spcPts val="5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inside the document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2697480"/>
            <a:ext cx="3566160" cy="2167128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2926080"/>
            <a:ext cx="3145536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3  Answer +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3675887"/>
            <a:ext cx="3145536" cy="9326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Read the answer;</a:t>
            </a:r>
          </a:p>
          <a:p>
            <a:pPr>
              <a:spcAft>
                <a:spcPts val="500"/>
              </a:spcAft>
              <a:defRPr sz="2200" b="0">
                <a:solidFill>
                  <a:srgbClr val="14243D"/>
                </a:solidFill>
                <a:latin typeface="Calibri"/>
              </a:defRPr>
            </a:pPr>
            <a:r>
              <a:t>verify the source page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093208"/>
            <a:ext cx="1097280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52627A"/>
                </a:solidFill>
                <a:latin typeface="Calibri"/>
              </a:defRPr>
            </a:pPr>
            <a:r>
              <a:t>ALOK SINGH  |  Personal learning project  |  Illustrative workflow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650992"/>
            <a:ext cx="11155680" cy="502920"/>
          </a:xfrm>
          <a:prstGeom prst="roundRect">
            <a:avLst/>
          </a:prstGeom>
          <a:solidFill>
            <a:srgbClr val="E8EEF9"/>
          </a:solidFill>
          <a:ln>
            <a:solidFill>
              <a:srgbClr val="E8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5742432"/>
            <a:ext cx="10835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43D"/>
                </a:solidFill>
                <a:latin typeface="Calibri"/>
              </a:defRPr>
            </a:pPr>
            <a:r>
              <a:t>Today: working demo -&gt; laptop setup -&gt; code tour -&gt; enterprise roadmap.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02 / RUN IT ON YOUR LAPTOP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4243D"/>
                </a:solidFill>
                <a:latin typeface="Calibri"/>
              </a:defRPr>
            </a:pPr>
            <a:r>
              <a:t>Set up once. Start locally whenever you learn.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9669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ALOK SINGH  |  Independent personal learning project  |  Version 2: demo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02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7040880" cy="3639312"/>
          </a:xfrm>
          <a:prstGeom prst="roundRect">
            <a:avLst/>
          </a:prstGeom>
          <a:solidFill>
            <a:srgbClr val="14243D"/>
          </a:solidFill>
          <a:ln>
            <a:solidFill>
              <a:srgbClr val="14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965960"/>
            <a:ext cx="6583680" cy="3017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A9C5FF"/>
                </a:solidFill>
                <a:latin typeface="Calibri"/>
              </a:defRPr>
            </a:pPr>
            <a:r>
              <a:t>ONE-TIME SETUP / WINDOWS POWERSHELL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496312"/>
            <a:ext cx="6583680" cy="2697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python -m venv venv</a:t>
            </a: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.\venv\Scripts\Activate.ps1</a:t>
            </a: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python -m pip install -r requirements.txt</a:t>
            </a: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ollama pull nomic-embed-text</a:t>
            </a: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ollama pull qwen3:0.6b</a:t>
            </a:r>
          </a:p>
          <a:p>
            <a:pPr>
              <a:spcAft>
                <a:spcPts val="500"/>
              </a:spcAft>
              <a:defRPr sz="1800" b="0">
                <a:solidFill>
                  <a:srgbClr val="FFFFFF"/>
                </a:solidFill>
                <a:latin typeface="Consolas"/>
              </a:defRPr>
            </a:pPr>
            <a:r>
              <a:t>streamlit run app.py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920240"/>
            <a:ext cx="3749039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400" b="1">
                <a:solidFill>
                  <a:srgbClr val="2563EB"/>
                </a:solidFill>
                <a:latin typeface="Calibri"/>
              </a:defRPr>
            </a:pPr>
            <a:r>
              <a:t>Everyday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2697480"/>
            <a:ext cx="3749039" cy="2468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Activate your environment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Ensure Ollama is running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Start Streamlit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Select qwen3:0.6b in the app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650992"/>
            <a:ext cx="11155680" cy="502920"/>
          </a:xfrm>
          <a:prstGeom prst="roundRect">
            <a:avLst/>
          </a:prstGeom>
          <a:solidFill>
            <a:srgbClr val="E8EEF9"/>
          </a:solidFill>
          <a:ln>
            <a:solidFill>
              <a:srgbClr val="E8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5742432"/>
            <a:ext cx="10835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43D"/>
                </a:solidFill>
                <a:latin typeface="Calibri"/>
              </a:defRPr>
            </a:pPr>
            <a:r>
              <a:t>Get the source: github.com/aloknet21/enterprise-knowledge-assistant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03 / FOLLOW THE 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4243D"/>
                </a:solidFill>
                <a:latin typeface="Calibri"/>
              </a:defRPr>
            </a:pPr>
            <a:r>
              <a:t>Live demo: from a PDF to a checked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9669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ALOK SINGH  |  Independent personal learning project  |  Version 2: demo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03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Prepare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Show a known fact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Upload the PDF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Click Index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Ask one factual question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Read the actual answer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Open its source passage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Compare with the PDF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Try an absent fact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Repeat indexing: reuse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50992"/>
            <a:ext cx="11155680" cy="502920"/>
          </a:xfrm>
          <a:prstGeom prst="roundRect">
            <a:avLst/>
          </a:prstGeom>
          <a:solidFill>
            <a:srgbClr val="E8EEF9"/>
          </a:solidFill>
          <a:ln>
            <a:solidFill>
              <a:srgbClr val="E8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5742432"/>
            <a:ext cx="10835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43D"/>
                </a:solidFill>
                <a:latin typeface="Calibri"/>
              </a:defRPr>
            </a:pPr>
            <a:r>
              <a:t>Demo rule: know the source fact first; judge the model against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04 / LOW-RESOURCE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4243D"/>
                </a:solidFill>
                <a:latin typeface="Calibri"/>
              </a:defRPr>
            </a:pPr>
            <a:r>
              <a:t>Start small: no cloud account or GPU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9669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ALOK SINGH  |  Independent personal learning project  |  Version 2: demo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04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Small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Start with qwen3:0.6b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Install it before the demo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Expect quality trade-offs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Small 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Use a 2-3 page PDF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Start with batch size 1-4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Limit CPU threads to 1-2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Simple setup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Python + Ollama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No cloud account needed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Dedicated GPU optional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50992"/>
            <a:ext cx="11155680" cy="502920"/>
          </a:xfrm>
          <a:prstGeom prst="roundRect">
            <a:avLst/>
          </a:prstGeom>
          <a:solidFill>
            <a:srgbClr val="E8EEF9"/>
          </a:solidFill>
          <a:ln>
            <a:solidFill>
              <a:srgbClr val="E8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5742432"/>
            <a:ext cx="10835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43D"/>
                </a:solidFill>
                <a:latin typeface="Calibri"/>
              </a:defRPr>
            </a:pPr>
            <a:r>
              <a:t>Low-resource starting settings, not a certified hardware minimum.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05 / WHAT IT DOES AND HOW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4243D"/>
                </a:solidFill>
                <a:latin typeface="Calibri"/>
              </a:defRPr>
            </a:pPr>
            <a:r>
              <a:t>Behind the screen: two simple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9669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ALOK SINGH  |  Independent personal learning project  |  Version 2: demo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05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56232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37E79"/>
                </a:solidFill>
                <a:latin typeface="Calibri"/>
              </a:defRPr>
            </a:pPr>
            <a:r>
              <a:t>PREPARE THE DOCUMENT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258568"/>
            <a:ext cx="1993392" cy="841248"/>
          </a:xfrm>
          <a:prstGeom prst="roundRect">
            <a:avLst/>
          </a:prstGeom>
          <a:solidFill>
            <a:srgbClr val="14243D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478024"/>
            <a:ext cx="177393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PDF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2888" y="2478024"/>
            <a:ext cx="219456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9776" y="2258568"/>
            <a:ext cx="1993392" cy="841248"/>
          </a:xfrm>
          <a:prstGeom prst="roundRect">
            <a:avLst/>
          </a:prstGeom>
          <a:solidFill>
            <a:srgbClr val="14243D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9504" y="2478024"/>
            <a:ext cx="177393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Page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9744" y="2478024"/>
            <a:ext cx="219456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56632" y="2258568"/>
            <a:ext cx="1993392" cy="841248"/>
          </a:xfrm>
          <a:prstGeom prst="roundRect">
            <a:avLst/>
          </a:prstGeom>
          <a:solidFill>
            <a:srgbClr val="14243D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2478024"/>
            <a:ext cx="177393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Small sections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478024"/>
            <a:ext cx="219456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33488" y="2258568"/>
            <a:ext cx="1993392" cy="841248"/>
          </a:xfrm>
          <a:prstGeom prst="roundRect">
            <a:avLst/>
          </a:prstGeom>
          <a:solidFill>
            <a:srgbClr val="14243D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3216" y="2478024"/>
            <a:ext cx="177393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63456" y="2478024"/>
            <a:ext cx="219456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10344" y="2258568"/>
            <a:ext cx="1993392" cy="841248"/>
          </a:xfrm>
          <a:prstGeom prst="roundRect">
            <a:avLst/>
          </a:prstGeom>
          <a:solidFill>
            <a:srgbClr val="14243D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0072" y="2478024"/>
            <a:ext cx="177393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FFFFFF"/>
                </a:solidFill>
                <a:latin typeface="Calibri"/>
              </a:defRPr>
            </a:pPr>
            <a:r>
              <a:t>LanceDB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92424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37E79"/>
                </a:solidFill>
                <a:latin typeface="Calibri"/>
              </a:defRPr>
            </a:pPr>
            <a:r>
              <a:t>ANSWER A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794760"/>
            <a:ext cx="199339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4014216"/>
            <a:ext cx="177393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4243D"/>
                </a:solidFill>
                <a:latin typeface="Calibri"/>
              </a:defRPr>
            </a:pPr>
            <a:r>
              <a:t>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2888" y="4014216"/>
            <a:ext cx="219456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79776" y="3794760"/>
            <a:ext cx="199339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89504" y="4014216"/>
            <a:ext cx="177393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4243D"/>
                </a:solidFill>
                <a:latin typeface="Calibri"/>
              </a:defRPr>
            </a:pPr>
            <a:r>
              <a:t>Query vector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9744" y="4014216"/>
            <a:ext cx="219456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56632" y="3794760"/>
            <a:ext cx="199339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66360" y="4014216"/>
            <a:ext cx="177393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4243D"/>
                </a:solidFill>
                <a:latin typeface="Calibri"/>
              </a:defRPr>
            </a:pPr>
            <a:r>
              <a:t>Find passages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4014216"/>
            <a:ext cx="219456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33488" y="3794760"/>
            <a:ext cx="199339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43216" y="4014216"/>
            <a:ext cx="177393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4243D"/>
                </a:solidFill>
                <a:latin typeface="Calibri"/>
              </a:defRPr>
            </a:pPr>
            <a:r>
              <a:t>Qwen3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63456" y="4014216"/>
            <a:ext cx="219456" cy="3657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&gt;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10344" y="3794760"/>
            <a:ext cx="1993392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720072" y="4014216"/>
            <a:ext cx="1773936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900" b="1">
                <a:solidFill>
                  <a:srgbClr val="14243D"/>
                </a:solidFill>
                <a:latin typeface="Calibri"/>
              </a:defRPr>
            </a:pPr>
            <a:r>
              <a:t>Answer + sources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650992"/>
            <a:ext cx="11155680" cy="502920"/>
          </a:xfrm>
          <a:prstGeom prst="roundRect">
            <a:avLst/>
          </a:prstGeom>
          <a:solidFill>
            <a:srgbClr val="E8EEF9"/>
          </a:solidFill>
          <a:ln>
            <a:solidFill>
              <a:srgbClr val="E8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" y="5742432"/>
            <a:ext cx="10835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43D"/>
                </a:solidFill>
                <a:latin typeface="Calibri"/>
              </a:defRPr>
            </a:pPr>
            <a:r>
              <a:t>Embeddings find related text. The answer LLM writes from the retrieved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06 / UNDERSTAND THE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4243D"/>
                </a:solidFill>
                <a:latin typeface="Calibri"/>
              </a:defRPr>
            </a:pPr>
            <a:r>
              <a:t>Codebase tour: one responsibility per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9669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ALOK SINGH  |  Independent personal learning project  |  Version 2: demo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06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92224"/>
            <a:ext cx="5623560" cy="3639312"/>
          </a:xfrm>
          <a:prstGeom prst="roundRect">
            <a:avLst/>
          </a:prstGeom>
          <a:solidFill>
            <a:srgbClr val="14243D"/>
          </a:solidFill>
          <a:ln>
            <a:solidFill>
              <a:srgbClr val="1424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39112"/>
            <a:ext cx="5166360" cy="3108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600" b="0">
                <a:solidFill>
                  <a:srgbClr val="FFFFFF"/>
                </a:solidFill>
                <a:latin typeface="Consolas"/>
              </a:defRPr>
            </a:pPr>
            <a:r>
              <a:t>app.py</a:t>
            </a:r>
          </a:p>
          <a:p>
            <a:pPr>
              <a:spcAft>
                <a:spcPts val="500"/>
              </a:spcAft>
              <a:defRPr sz="2600" b="0">
                <a:solidFill>
                  <a:srgbClr val="FFFFFF"/>
                </a:solidFill>
                <a:latin typeface="Consolas"/>
              </a:defRPr>
            </a:pPr>
            <a:r>
              <a:t> ingestion/</a:t>
            </a:r>
          </a:p>
          <a:p>
            <a:pPr>
              <a:spcAft>
                <a:spcPts val="500"/>
              </a:spcAft>
              <a:defRPr sz="2600" b="0">
                <a:solidFill>
                  <a:srgbClr val="FFFFFF"/>
                </a:solidFill>
                <a:latin typeface="Consolas"/>
              </a:defRPr>
            </a:pPr>
            <a:r>
              <a:t> embeddings/</a:t>
            </a:r>
          </a:p>
          <a:p>
            <a:pPr>
              <a:spcAft>
                <a:spcPts val="500"/>
              </a:spcAft>
              <a:defRPr sz="2600" b="0">
                <a:solidFill>
                  <a:srgbClr val="FFFFFF"/>
                </a:solidFill>
                <a:latin typeface="Consolas"/>
              </a:defRPr>
            </a:pPr>
            <a:r>
              <a:t> vectorstore/</a:t>
            </a:r>
          </a:p>
          <a:p>
            <a:pPr>
              <a:spcAft>
                <a:spcPts val="500"/>
              </a:spcAft>
              <a:defRPr sz="2600" b="0">
                <a:solidFill>
                  <a:srgbClr val="FFFFFF"/>
                </a:solidFill>
                <a:latin typeface="Consolas"/>
              </a:defRPr>
            </a:pPr>
            <a:r>
              <a:t> llm/</a:t>
            </a:r>
          </a:p>
          <a:p>
            <a:pPr>
              <a:spcAft>
                <a:spcPts val="500"/>
              </a:spcAft>
              <a:defRPr sz="2600" b="0">
                <a:solidFill>
                  <a:srgbClr val="FFFFFF"/>
                </a:solidFill>
                <a:latin typeface="Consolas"/>
              </a:defRPr>
            </a:pPr>
            <a:r>
              <a:t> tests/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5212080" cy="3337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0">
                <a:solidFill>
                  <a:srgbClr val="14243D"/>
                </a:solidFill>
                <a:latin typeface="Calibri"/>
              </a:defRPr>
            </a:pPr>
            <a:r>
              <a:t>User experience and events</a:t>
            </a:r>
          </a:p>
          <a:p>
            <a:pPr>
              <a:spcAft>
                <a:spcPts val="500"/>
              </a:spcAft>
              <a:defRPr sz="2300" b="0">
                <a:solidFill>
                  <a:srgbClr val="14243D"/>
                </a:solidFill>
                <a:latin typeface="Calibri"/>
              </a:defRPr>
            </a:pPr>
            <a:r>
              <a:t>Prepare PDF text</a:t>
            </a:r>
          </a:p>
          <a:p>
            <a:pPr>
              <a:spcAft>
                <a:spcPts val="500"/>
              </a:spcAft>
              <a:defRPr sz="2300" b="0">
                <a:solidFill>
                  <a:srgbClr val="14243D"/>
                </a:solidFill>
                <a:latin typeface="Calibri"/>
              </a:defRPr>
            </a:pPr>
            <a:r>
              <a:t>Create searchable vectors</a:t>
            </a:r>
          </a:p>
          <a:p>
            <a:pPr>
              <a:spcAft>
                <a:spcPts val="500"/>
              </a:spcAft>
              <a:defRPr sz="2300" b="0">
                <a:solidFill>
                  <a:srgbClr val="14243D"/>
                </a:solidFill>
                <a:latin typeface="Calibri"/>
              </a:defRPr>
            </a:pPr>
            <a:r>
              <a:t>Store and retrieve passages</a:t>
            </a:r>
          </a:p>
          <a:p>
            <a:pPr>
              <a:spcAft>
                <a:spcPts val="500"/>
              </a:spcAft>
              <a:defRPr sz="2300" b="0">
                <a:solidFill>
                  <a:srgbClr val="14243D"/>
                </a:solidFill>
                <a:latin typeface="Calibri"/>
              </a:defRPr>
            </a:pPr>
            <a:r>
              <a:t>Generate the final answer</a:t>
            </a:r>
          </a:p>
          <a:p>
            <a:pPr>
              <a:spcAft>
                <a:spcPts val="500"/>
              </a:spcAft>
              <a:defRPr sz="2300" b="0">
                <a:solidFill>
                  <a:srgbClr val="14243D"/>
                </a:solidFill>
                <a:latin typeface="Calibri"/>
              </a:defRPr>
            </a:pPr>
            <a:r>
              <a:t>Protect expected behavior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5650992"/>
            <a:ext cx="11155680" cy="502920"/>
          </a:xfrm>
          <a:prstGeom prst="roundRect">
            <a:avLst/>
          </a:prstGeom>
          <a:solidFill>
            <a:srgbClr val="E8EEF9"/>
          </a:solidFill>
          <a:ln>
            <a:solidFill>
              <a:srgbClr val="E8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5742432"/>
            <a:ext cx="10835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43D"/>
                </a:solidFill>
                <a:latin typeface="Calibri"/>
              </a:defRPr>
            </a:pPr>
            <a:r>
              <a:t>Supporting files: .streamlit/config.toml  |  requirements.txt  |  README.md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07 / CODE TOUR: 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4243D"/>
                </a:solidFill>
                <a:latin typeface="Calibri"/>
              </a:defRPr>
            </a:pPr>
            <a:r>
              <a:t>Frontend: turning clicks into useful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9669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ALOK SINGH  |  Independent personal learning project  |  Version 2: demo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07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User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Select a PDF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Click Index PDF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Submit a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UI responsibilities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Show status and progress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Keep the last answer visible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Display errors and 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Performance boundary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No inference while typing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No processing on upload alone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No full vector list in 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50992"/>
            <a:ext cx="11155680" cy="502920"/>
          </a:xfrm>
          <a:prstGeom prst="roundRect">
            <a:avLst/>
          </a:prstGeom>
          <a:solidFill>
            <a:srgbClr val="E8EEF9"/>
          </a:solidFill>
          <a:ln>
            <a:solidFill>
              <a:srgbClr val="E8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5742432"/>
            <a:ext cx="10835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43D"/>
                </a:solidFill>
                <a:latin typeface="Calibri"/>
              </a:defRPr>
            </a:pPr>
            <a:r>
              <a:t>Find these first: file_uploader -&gt; Index PDF -&gt; question_form -&gt; session_state.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08 / CODE TOUR: INGESTION + EMBEDDINGS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4243D"/>
                </a:solidFill>
                <a:latin typeface="Calibri"/>
              </a:defRPr>
            </a:pPr>
            <a:r>
              <a:t>Document preparation: from pages to search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9669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ALOK SINGH  |  Independent personal learning project  |  Version 2: demo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08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Read +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pdf_loader.py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Preserve page numbers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chunker.py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Create small text sections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Coordinate + embed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pipeline.py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Batch work; detect duplicates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embedding_model.py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Call nomic-embed-text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Store safely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lancedb_manager.py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Stage prepared batches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Publish the completed index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Keep the old index on failure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50992"/>
            <a:ext cx="11155680" cy="502920"/>
          </a:xfrm>
          <a:prstGeom prst="roundRect">
            <a:avLst/>
          </a:prstGeom>
          <a:solidFill>
            <a:srgbClr val="E8EEF9"/>
          </a:solidFill>
          <a:ln>
            <a:solidFill>
              <a:srgbClr val="E8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5742432"/>
            <a:ext cx="10835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43D"/>
                </a:solidFill>
                <a:latin typeface="Calibri"/>
              </a:defRPr>
            </a:pPr>
            <a:r>
              <a:t>Extract -&gt; split -&gt; embed -&gt; store. Keep page references and avoid repeated work.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09 / CODE TOUR: RETRIEVAL + ANSWER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4243D"/>
                </a:solidFill>
                <a:latin typeface="Calibri"/>
              </a:defRPr>
            </a:pPr>
            <a:r>
              <a:t>Answering: find evidence before writing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9669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ALOK SINGH  |  Independent personal learning project  |  Version 2: demo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09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Find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Embed the question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Search LanceDB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Select relevant-looking passages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9884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Write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Pass text + question to Qwen3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Request a grounded response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Return a concise answer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5661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93608" y="2057400"/>
            <a:ext cx="3163824" cy="56692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300" b="1">
                <a:solidFill>
                  <a:srgbClr val="2563EB"/>
                </a:solidFill>
                <a:latin typeface="Calibri"/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852928"/>
            <a:ext cx="3163824" cy="21945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Open source passages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Compare with the PDF</a:t>
            </a:r>
          </a:p>
          <a:p>
            <a:pPr>
              <a:spcAft>
                <a:spcPts val="500"/>
              </a:spcAft>
              <a:defRPr sz="2100" b="0">
                <a:solidFill>
                  <a:srgbClr val="14243D"/>
                </a:solidFill>
                <a:latin typeface="Calibri"/>
              </a:defRPr>
            </a:pPr>
            <a:r>
              <a:t>Test absent information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650992"/>
            <a:ext cx="11155680" cy="502920"/>
          </a:xfrm>
          <a:prstGeom prst="roundRect">
            <a:avLst/>
          </a:prstGeom>
          <a:solidFill>
            <a:srgbClr val="E8EEF9"/>
          </a:solidFill>
          <a:ln>
            <a:solidFill>
              <a:srgbClr val="E8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5742432"/>
            <a:ext cx="10835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43D"/>
                </a:solidFill>
                <a:latin typeface="Calibri"/>
              </a:defRPr>
            </a:pPr>
            <a:r>
              <a:t>Search quality and answer quality are separate checks. Sources are evidence to inspect.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400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100" b="1">
                <a:solidFill>
                  <a:srgbClr val="137E79"/>
                </a:solidFill>
                <a:latin typeface="Calibri"/>
              </a:defRPr>
            </a:pPr>
            <a:r>
              <a:t>10 / PROPOSED ENHANCEMENTS - NOT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201400" cy="7772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4243D"/>
                </a:solidFill>
                <a:latin typeface="Calibri"/>
              </a:defRPr>
            </a:pPr>
            <a:r>
              <a:t>Next step: from laptop prototype to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996696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ALOK SINGH  |  Independent personal learning project  |  Version 2: demo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473952"/>
            <a:ext cx="868680" cy="21945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52627A"/>
                </a:solidFill>
                <a:latin typeface="Calibri"/>
              </a:defRPr>
            </a:pPr>
            <a:r>
              <a:t>10 /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55648"/>
            <a:ext cx="11155680" cy="429768"/>
          </a:xfrm>
          <a:prstGeom prst="roundRect">
            <a:avLst/>
          </a:prstGeom>
          <a:solidFill>
            <a:srgbClr val="FFF0D7"/>
          </a:solidFill>
          <a:ln>
            <a:solidFill>
              <a:srgbClr val="FFF0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837943"/>
            <a:ext cx="1078992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775212"/>
                </a:solidFill>
                <a:latin typeface="Calibri"/>
              </a:defRPr>
            </a:pPr>
            <a:r>
              <a:t>FUTURE STATE ONLY  |  SSO, RBAC, EKS and shared services are not implemented.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68880"/>
            <a:ext cx="3566160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Identity +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3200400" cy="11612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Organization SSO</a:t>
            </a:r>
          </a:p>
          <a:p>
            <a:pPr>
              <a:spcAft>
                <a:spcPts val="5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OIDC / approved auth layer</a:t>
            </a:r>
          </a:p>
          <a:p>
            <a:pPr>
              <a:spcAft>
                <a:spcPts val="5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App roles + document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468880"/>
            <a:ext cx="3566160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65176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Container workloads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3337560"/>
            <a:ext cx="3200400" cy="11612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Amazon EKS</a:t>
            </a:r>
          </a:p>
          <a:p>
            <a:pPr>
              <a:spcAft>
                <a:spcPts val="5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Frontend + API + job workers</a:t>
            </a:r>
          </a:p>
          <a:p>
            <a:pPr>
              <a:spcAft>
                <a:spcPts val="5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Separate model 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468880"/>
            <a:ext cx="3566160" cy="2212848"/>
          </a:xfrm>
          <a:prstGeom prst="roundRect">
            <a:avLst/>
          </a:prstGeom>
          <a:solidFill>
            <a:srgbClr val="FFFFFF"/>
          </a:solidFill>
          <a:ln>
            <a:solidFill>
              <a:srgbClr val="DF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651760"/>
            <a:ext cx="3200400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2200" b="1">
                <a:solidFill>
                  <a:srgbClr val="2563EB"/>
                </a:solidFill>
                <a:latin typeface="Calibri"/>
              </a:defRPr>
            </a:pPr>
            <a:r>
              <a:t>Shared data + operations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3337560"/>
            <a:ext cx="3200400" cy="116128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Object + vector storage</a:t>
            </a:r>
          </a:p>
          <a:p>
            <a:pPr>
              <a:spcAft>
                <a:spcPts val="5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Secrets, audit and monitoring</a:t>
            </a:r>
          </a:p>
          <a:p>
            <a:pPr>
              <a:spcAft>
                <a:spcPts val="500"/>
              </a:spcAft>
              <a:defRPr sz="1900" b="0">
                <a:solidFill>
                  <a:srgbClr val="14243D"/>
                </a:solidFill>
                <a:latin typeface="Calibri"/>
              </a:defRPr>
            </a:pPr>
            <a:r>
              <a:t>Evaluation +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864608"/>
            <a:ext cx="10972800" cy="6949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37E79"/>
                </a:solidFill>
                <a:latin typeface="Calibri"/>
              </a:defRPr>
            </a:pPr>
            <a:r>
              <a:t>SSO identifies the user. Backend authorization limits retrieval.</a:t>
            </a:r>
          </a:p>
          <a:p>
            <a:pPr>
              <a:spcAft>
                <a:spcPts val="500"/>
              </a:spcAft>
              <a:defRPr sz="1700" b="1">
                <a:solidFill>
                  <a:srgbClr val="137E79"/>
                </a:solidFill>
                <a:latin typeface="Calibri"/>
              </a:defRPr>
            </a:pPr>
            <a:r>
              <a:t>Kubernetes RBAC governs the cluster; it is not document-level access control.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650992"/>
            <a:ext cx="11155680" cy="502920"/>
          </a:xfrm>
          <a:prstGeom prst="roundRect">
            <a:avLst/>
          </a:prstGeom>
          <a:solidFill>
            <a:srgbClr val="E8EEF9"/>
          </a:solidFill>
          <a:ln>
            <a:solidFill>
              <a:srgbClr val="E8EE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5742432"/>
            <a:ext cx="1083564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4243D"/>
                </a:solidFill>
                <a:latin typeface="Calibri"/>
              </a:defRPr>
            </a:pPr>
            <a:r>
              <a:t>Learn locally first. Add enterprise capabilities through measured, reviewed stages.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GenAI on Your Laptop | Demo-first walkthrough | Version 2</dc:title>
  <dc:subject>30-minute personal learning project showcase and enterprise roadmap</dc:subject>
  <dc:creator>ALOK SINGH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